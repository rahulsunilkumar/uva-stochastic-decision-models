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8" r:id="rId13"/>
  </p:sldIdLst>
  <p:sldSz cx="18288000" cy="10287000"/>
  <p:notesSz cx="6858000" cy="9144000"/>
  <p:embeddedFontLst>
    <p:embeddedFont>
      <p:font typeface="Arial Black" panose="020B0604020202020204" pitchFamily="34" charset="0"/>
      <p:bold r:id="rId15"/>
    </p:embeddedFont>
    <p:embeddedFont>
      <p:font typeface="Canva Sans" panose="020B0503030501040103" pitchFamily="34" charset="0"/>
      <p:regular r:id="rId16"/>
    </p:embeddedFont>
    <p:embeddedFont>
      <p:font typeface="IBM Plex Mono" panose="020B0509050203000203" pitchFamily="49" charset="77"/>
      <p:regular r:id="rId17"/>
    </p:embeddedFont>
    <p:embeddedFont>
      <p:font typeface="IBM Plex Mono Bold" panose="020B0809050203000203" pitchFamily="49" charset="77"/>
      <p:regular r:id="rId18"/>
      <p:bold r:id="rId19"/>
    </p:embeddedFont>
    <p:embeddedFont>
      <p:font typeface="Impact" panose="020B0806030902050204" pitchFamily="34" charset="0"/>
      <p:regular r:id="rId20"/>
    </p:embeddedFont>
    <p:embeddedFont>
      <p:font typeface="Kitchakan" pitchFamily="2" charset="-34"/>
      <p:regular r:id="rId21"/>
    </p:embeddedFont>
    <p:embeddedFont>
      <p:font typeface="Kitchakan Bold" pitchFamily="2" charset="-34"/>
      <p:regular r:id="rId22"/>
      <p:bold r:id="rId23"/>
    </p:embeddedFont>
    <p:embeddedFont>
      <p:font typeface="Kitchakan Ultra-Bold" pitchFamily="2" charset="-34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89" autoAdjust="0"/>
  </p:normalViewPr>
  <p:slideViewPr>
    <p:cSldViewPr>
      <p:cViewPr>
        <p:scale>
          <a:sx n="45" d="100"/>
          <a:sy n="45" d="100"/>
        </p:scale>
        <p:origin x="2824" y="13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9F4B7E-BBFE-D444-A4F7-2C666AFE0FA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FFDD7-46AE-E548-A266-71EDA0B49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319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73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5.png"/><Relationship Id="rId5" Type="http://schemas.openxmlformats.org/officeDocument/2006/relationships/image" Target="../media/image4.png"/><Relationship Id="rId10" Type="http://schemas.openxmlformats.org/officeDocument/2006/relationships/image" Target="../media/image11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5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5.png"/><Relationship Id="rId4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5.png"/><Relationship Id="rId10" Type="http://schemas.openxmlformats.org/officeDocument/2006/relationships/image" Target="../media/image27.pn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15.png"/><Relationship Id="rId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15.png"/><Relationship Id="rId4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5.png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15.png"/><Relationship Id="rId4" Type="http://schemas.openxmlformats.org/officeDocument/2006/relationships/image" Target="../media/image2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0.pn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297503" y="0"/>
            <a:ext cx="10589106" cy="10589106"/>
          </a:xfrm>
          <a:custGeom>
            <a:avLst/>
            <a:gdLst/>
            <a:ahLst/>
            <a:cxnLst/>
            <a:rect l="l" t="t" r="r" b="b"/>
            <a:pathLst>
              <a:path w="10589106" h="10589106">
                <a:moveTo>
                  <a:pt x="0" y="0"/>
                </a:moveTo>
                <a:lnTo>
                  <a:pt x="10589106" y="0"/>
                </a:lnTo>
                <a:lnTo>
                  <a:pt x="10589106" y="10589106"/>
                </a:lnTo>
                <a:lnTo>
                  <a:pt x="0" y="10589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3255844">
            <a:off x="611343" y="4382289"/>
            <a:ext cx="5088674" cy="8746159"/>
          </a:xfrm>
          <a:custGeom>
            <a:avLst/>
            <a:gdLst/>
            <a:ahLst/>
            <a:cxnLst/>
            <a:rect l="l" t="t" r="r" b="b"/>
            <a:pathLst>
              <a:path w="5088674" h="8746159">
                <a:moveTo>
                  <a:pt x="0" y="0"/>
                </a:moveTo>
                <a:lnTo>
                  <a:pt x="5088675" y="0"/>
                </a:lnTo>
                <a:lnTo>
                  <a:pt x="5088675" y="8746159"/>
                </a:lnTo>
                <a:lnTo>
                  <a:pt x="0" y="87461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205613" y="0"/>
            <a:ext cx="10379890" cy="10589106"/>
          </a:xfrm>
          <a:custGeom>
            <a:avLst/>
            <a:gdLst/>
            <a:ahLst/>
            <a:cxnLst/>
            <a:rect l="l" t="t" r="r" b="b"/>
            <a:pathLst>
              <a:path w="10379890" h="10589106">
                <a:moveTo>
                  <a:pt x="0" y="0"/>
                </a:moveTo>
                <a:lnTo>
                  <a:pt x="10379890" y="0"/>
                </a:lnTo>
                <a:lnTo>
                  <a:pt x="10379890" y="10589106"/>
                </a:lnTo>
                <a:lnTo>
                  <a:pt x="0" y="10589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0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28700" y="641227"/>
            <a:ext cx="513267" cy="461376"/>
          </a:xfrm>
          <a:custGeom>
            <a:avLst/>
            <a:gdLst/>
            <a:ahLst/>
            <a:cxnLst/>
            <a:rect l="l" t="t" r="r" b="b"/>
            <a:pathLst>
              <a:path w="513267" h="461376">
                <a:moveTo>
                  <a:pt x="0" y="0"/>
                </a:moveTo>
                <a:lnTo>
                  <a:pt x="513267" y="0"/>
                </a:lnTo>
                <a:lnTo>
                  <a:pt x="513267" y="461376"/>
                </a:lnTo>
                <a:lnTo>
                  <a:pt x="0" y="4613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305706" y="1248479"/>
            <a:ext cx="9203582" cy="489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06"/>
              </a:lnSpc>
            </a:pPr>
            <a:r>
              <a:rPr lang="en-US" sz="23932" b="1">
                <a:solidFill>
                  <a:srgbClr val="FFFFFF"/>
                </a:solidFill>
                <a:latin typeface="Kitchakan Ultra-Bold"/>
                <a:ea typeface="Kitchakan Ultra-Bold"/>
                <a:cs typeface="Kitchakan Ultra-Bold"/>
                <a:sym typeface="Kitchakan Ultra-Bold"/>
              </a:rPr>
              <a:t>ROOTS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05706" y="4881657"/>
            <a:ext cx="9203582" cy="2084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67"/>
              </a:lnSpc>
            </a:pPr>
            <a:r>
              <a:rPr lang="en-US" sz="10191">
                <a:solidFill>
                  <a:srgbClr val="FFFFFF"/>
                </a:solidFill>
                <a:latin typeface="Kitchakan"/>
                <a:ea typeface="Kitchakan"/>
                <a:cs typeface="Kitchakan"/>
                <a:sym typeface="Kitchakan"/>
              </a:rPr>
              <a:t>A LUNCH QUEUE STUDY</a:t>
            </a:r>
          </a:p>
        </p:txBody>
      </p:sp>
      <p:sp>
        <p:nvSpPr>
          <p:cNvPr id="9" name="Freeform 9"/>
          <p:cNvSpPr/>
          <p:nvPr/>
        </p:nvSpPr>
        <p:spPr>
          <a:xfrm>
            <a:off x="17251761" y="2237924"/>
            <a:ext cx="1036239" cy="3606335"/>
          </a:xfrm>
          <a:custGeom>
            <a:avLst/>
            <a:gdLst/>
            <a:ahLst/>
            <a:cxnLst/>
            <a:rect l="l" t="t" r="r" b="b"/>
            <a:pathLst>
              <a:path w="1036239" h="3606335">
                <a:moveTo>
                  <a:pt x="0" y="0"/>
                </a:moveTo>
                <a:lnTo>
                  <a:pt x="1036239" y="0"/>
                </a:lnTo>
                <a:lnTo>
                  <a:pt x="1036239" y="3606336"/>
                </a:lnTo>
                <a:lnTo>
                  <a:pt x="0" y="360633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799" b="-4614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285334" y="2052170"/>
            <a:ext cx="1421641" cy="1377699"/>
          </a:xfrm>
          <a:custGeom>
            <a:avLst/>
            <a:gdLst/>
            <a:ahLst/>
            <a:cxnLst/>
            <a:rect l="l" t="t" r="r" b="b"/>
            <a:pathLst>
              <a:path w="1421641" h="1377699">
                <a:moveTo>
                  <a:pt x="0" y="0"/>
                </a:moveTo>
                <a:lnTo>
                  <a:pt x="1421641" y="0"/>
                </a:lnTo>
                <a:lnTo>
                  <a:pt x="1421641" y="1377699"/>
                </a:lnTo>
                <a:lnTo>
                  <a:pt x="0" y="137769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6252320" y="8229694"/>
            <a:ext cx="1219106" cy="1219106"/>
          </a:xfrm>
          <a:custGeom>
            <a:avLst/>
            <a:gdLst/>
            <a:ahLst/>
            <a:cxnLst/>
            <a:rect l="l" t="t" r="r" b="b"/>
            <a:pathLst>
              <a:path w="1219106" h="1219106">
                <a:moveTo>
                  <a:pt x="0" y="0"/>
                </a:moveTo>
                <a:lnTo>
                  <a:pt x="1219106" y="0"/>
                </a:lnTo>
                <a:lnTo>
                  <a:pt x="1219106" y="1219106"/>
                </a:lnTo>
                <a:lnTo>
                  <a:pt x="0" y="121910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300497" y="1305978"/>
            <a:ext cx="9444497" cy="9283128"/>
          </a:xfrm>
          <a:custGeom>
            <a:avLst/>
            <a:gdLst/>
            <a:ahLst/>
            <a:cxnLst/>
            <a:rect l="l" t="t" r="r" b="b"/>
            <a:pathLst>
              <a:path w="9444497" h="9283128">
                <a:moveTo>
                  <a:pt x="0" y="0"/>
                </a:moveTo>
                <a:lnTo>
                  <a:pt x="9444497" y="0"/>
                </a:lnTo>
                <a:lnTo>
                  <a:pt x="9444497" y="9283128"/>
                </a:lnTo>
                <a:lnTo>
                  <a:pt x="0" y="928312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r="-7474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691733" y="684082"/>
            <a:ext cx="3347111" cy="380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sz="2280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SYS 3060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46223" y="6937373"/>
            <a:ext cx="1438473" cy="593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2"/>
              </a:lnSpc>
            </a:pPr>
            <a:r>
              <a:rPr lang="en-US" sz="1766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MEKDES</a:t>
            </a:r>
          </a:p>
          <a:p>
            <a:pPr marL="0" lvl="0" indent="0" algn="ctr">
              <a:lnSpc>
                <a:spcPts val="2472"/>
              </a:lnSpc>
              <a:spcBef>
                <a:spcPct val="0"/>
              </a:spcBef>
            </a:pPr>
            <a:r>
              <a:rPr lang="en-US" sz="1766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ALEMAYEHU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05773" y="6957256"/>
            <a:ext cx="2013960" cy="593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2"/>
              </a:lnSpc>
            </a:pPr>
            <a:r>
              <a:rPr lang="en-US" sz="1766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RAHUL</a:t>
            </a:r>
          </a:p>
          <a:p>
            <a:pPr marL="0" lvl="0" indent="0" algn="ctr">
              <a:lnSpc>
                <a:spcPts val="2472"/>
              </a:lnSpc>
              <a:spcBef>
                <a:spcPct val="0"/>
              </a:spcBef>
            </a:pPr>
            <a:r>
              <a:rPr lang="en-US" sz="1766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SUNILKUMAR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05706" y="6957256"/>
            <a:ext cx="1726216" cy="593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2"/>
              </a:lnSpc>
            </a:pPr>
            <a:r>
              <a:rPr lang="en-US" sz="1766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FATIMA</a:t>
            </a:r>
          </a:p>
          <a:p>
            <a:pPr marL="0" lvl="0" indent="0" algn="ctr">
              <a:lnSpc>
                <a:spcPts val="2472"/>
              </a:lnSpc>
              <a:spcBef>
                <a:spcPct val="0"/>
              </a:spcBef>
            </a:pPr>
            <a:r>
              <a:rPr lang="en-US" sz="1766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AFILAL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419858" y="6937373"/>
            <a:ext cx="1438473" cy="593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2"/>
              </a:lnSpc>
            </a:pPr>
            <a:r>
              <a:rPr lang="en-US" sz="1766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MAKANGO</a:t>
            </a:r>
          </a:p>
          <a:p>
            <a:pPr marL="0" lvl="0" indent="0" algn="ctr">
              <a:lnSpc>
                <a:spcPts val="2472"/>
              </a:lnSpc>
              <a:spcBef>
                <a:spcPct val="0"/>
              </a:spcBef>
            </a:pPr>
            <a:r>
              <a:rPr lang="en-US" sz="1766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CISSE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110867" y="6937373"/>
            <a:ext cx="1438473" cy="593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2"/>
              </a:lnSpc>
            </a:pPr>
            <a:r>
              <a:rPr lang="en-US" sz="1766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ANDREW</a:t>
            </a:r>
          </a:p>
          <a:p>
            <a:pPr marL="0" lvl="0" indent="0" algn="ctr">
              <a:lnSpc>
                <a:spcPts val="2472"/>
              </a:lnSpc>
              <a:spcBef>
                <a:spcPct val="0"/>
              </a:spcBef>
            </a:pPr>
            <a:r>
              <a:rPr lang="en-US" sz="1766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JI</a:t>
            </a:r>
          </a:p>
        </p:txBody>
      </p:sp>
      <p:sp>
        <p:nvSpPr>
          <p:cNvPr id="19" name="Freeform 19"/>
          <p:cNvSpPr/>
          <p:nvPr/>
        </p:nvSpPr>
        <p:spPr>
          <a:xfrm>
            <a:off x="14878370" y="198147"/>
            <a:ext cx="2593057" cy="1107832"/>
          </a:xfrm>
          <a:custGeom>
            <a:avLst/>
            <a:gdLst/>
            <a:ahLst/>
            <a:cxnLst/>
            <a:rect l="l" t="t" r="r" b="b"/>
            <a:pathLst>
              <a:path w="2593057" h="1107832">
                <a:moveTo>
                  <a:pt x="0" y="0"/>
                </a:moveTo>
                <a:lnTo>
                  <a:pt x="2593056" y="0"/>
                </a:lnTo>
                <a:lnTo>
                  <a:pt x="2593056" y="1107831"/>
                </a:lnTo>
                <a:lnTo>
                  <a:pt x="0" y="110783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293939" y="0"/>
            <a:ext cx="10589106" cy="10589106"/>
          </a:xfrm>
          <a:custGeom>
            <a:avLst/>
            <a:gdLst/>
            <a:ahLst/>
            <a:cxnLst/>
            <a:rect l="l" t="t" r="r" b="b"/>
            <a:pathLst>
              <a:path w="10589106" h="10589106">
                <a:moveTo>
                  <a:pt x="0" y="0"/>
                </a:moveTo>
                <a:lnTo>
                  <a:pt x="10589106" y="0"/>
                </a:lnTo>
                <a:lnTo>
                  <a:pt x="10589106" y="10589106"/>
                </a:lnTo>
                <a:lnTo>
                  <a:pt x="0" y="10589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205613" y="0"/>
            <a:ext cx="10379890" cy="10589106"/>
          </a:xfrm>
          <a:custGeom>
            <a:avLst/>
            <a:gdLst/>
            <a:ahLst/>
            <a:cxnLst/>
            <a:rect l="l" t="t" r="r" b="b"/>
            <a:pathLst>
              <a:path w="10379890" h="10589106">
                <a:moveTo>
                  <a:pt x="0" y="0"/>
                </a:moveTo>
                <a:lnTo>
                  <a:pt x="10379890" y="0"/>
                </a:lnTo>
                <a:lnTo>
                  <a:pt x="10379890" y="10589106"/>
                </a:lnTo>
                <a:lnTo>
                  <a:pt x="0" y="10589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0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8100000">
            <a:off x="14343665" y="-2054131"/>
            <a:ext cx="3587294" cy="6165662"/>
          </a:xfrm>
          <a:custGeom>
            <a:avLst/>
            <a:gdLst/>
            <a:ahLst/>
            <a:cxnLst/>
            <a:rect l="l" t="t" r="r" b="b"/>
            <a:pathLst>
              <a:path w="3587294" h="6165662">
                <a:moveTo>
                  <a:pt x="0" y="0"/>
                </a:moveTo>
                <a:lnTo>
                  <a:pt x="3587294" y="0"/>
                </a:lnTo>
                <a:lnTo>
                  <a:pt x="3587294" y="6165662"/>
                </a:lnTo>
                <a:lnTo>
                  <a:pt x="0" y="61656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5400000">
            <a:off x="2869347" y="5193231"/>
            <a:ext cx="1685040" cy="8502497"/>
          </a:xfrm>
          <a:custGeom>
            <a:avLst/>
            <a:gdLst/>
            <a:ahLst/>
            <a:cxnLst/>
            <a:rect l="l" t="t" r="r" b="b"/>
            <a:pathLst>
              <a:path w="1685040" h="8502497">
                <a:moveTo>
                  <a:pt x="0" y="0"/>
                </a:moveTo>
                <a:lnTo>
                  <a:pt x="1685040" y="0"/>
                </a:lnTo>
                <a:lnTo>
                  <a:pt x="1685040" y="8502497"/>
                </a:lnTo>
                <a:lnTo>
                  <a:pt x="0" y="8502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9144000" y="339850"/>
            <a:ext cx="1421641" cy="1377699"/>
          </a:xfrm>
          <a:custGeom>
            <a:avLst/>
            <a:gdLst/>
            <a:ahLst/>
            <a:cxnLst/>
            <a:rect l="l" t="t" r="r" b="b"/>
            <a:pathLst>
              <a:path w="1421641" h="1377699">
                <a:moveTo>
                  <a:pt x="0" y="0"/>
                </a:moveTo>
                <a:lnTo>
                  <a:pt x="1421641" y="0"/>
                </a:lnTo>
                <a:lnTo>
                  <a:pt x="1421641" y="1377700"/>
                </a:lnTo>
                <a:lnTo>
                  <a:pt x="0" y="137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5919391" y="260802"/>
            <a:ext cx="1920244" cy="820386"/>
          </a:xfrm>
          <a:custGeom>
            <a:avLst/>
            <a:gdLst/>
            <a:ahLst/>
            <a:cxnLst/>
            <a:rect l="l" t="t" r="r" b="b"/>
            <a:pathLst>
              <a:path w="1920244" h="820386">
                <a:moveTo>
                  <a:pt x="0" y="0"/>
                </a:moveTo>
                <a:lnTo>
                  <a:pt x="1920244" y="0"/>
                </a:lnTo>
                <a:lnTo>
                  <a:pt x="1920244" y="820386"/>
                </a:lnTo>
                <a:lnTo>
                  <a:pt x="0" y="82038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874693" y="2948773"/>
            <a:ext cx="8983983" cy="2277168"/>
            <a:chOff x="0" y="0"/>
            <a:chExt cx="2116384" cy="5364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16384" cy="536439"/>
            </a:xfrm>
            <a:custGeom>
              <a:avLst/>
              <a:gdLst/>
              <a:ahLst/>
              <a:cxnLst/>
              <a:rect l="l" t="t" r="r" b="b"/>
              <a:pathLst>
                <a:path w="2116384" h="536439">
                  <a:moveTo>
                    <a:pt x="0" y="0"/>
                  </a:moveTo>
                  <a:lnTo>
                    <a:pt x="2116384" y="0"/>
                  </a:lnTo>
                  <a:lnTo>
                    <a:pt x="2116384" y="536439"/>
                  </a:lnTo>
                  <a:lnTo>
                    <a:pt x="0" y="536439"/>
                  </a:lnTo>
                  <a:close/>
                </a:path>
              </a:pathLst>
            </a:custGeom>
            <a:solidFill>
              <a:srgbClr val="FFFFFF">
                <a:alpha val="8588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2116384" cy="5650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2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31147" y="5690416"/>
            <a:ext cx="9045603" cy="2292786"/>
            <a:chOff x="0" y="0"/>
            <a:chExt cx="2116384" cy="53643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16384" cy="536439"/>
            </a:xfrm>
            <a:custGeom>
              <a:avLst/>
              <a:gdLst/>
              <a:ahLst/>
              <a:cxnLst/>
              <a:rect l="l" t="t" r="r" b="b"/>
              <a:pathLst>
                <a:path w="2116384" h="536439">
                  <a:moveTo>
                    <a:pt x="0" y="0"/>
                  </a:moveTo>
                  <a:lnTo>
                    <a:pt x="2116384" y="0"/>
                  </a:lnTo>
                  <a:lnTo>
                    <a:pt x="2116384" y="536439"/>
                  </a:lnTo>
                  <a:lnTo>
                    <a:pt x="0" y="536439"/>
                  </a:lnTo>
                  <a:close/>
                </a:path>
              </a:pathLst>
            </a:custGeom>
            <a:solidFill>
              <a:srgbClr val="FFFFFF">
                <a:alpha val="8588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116384" cy="5650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2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1378182" y="6607691"/>
            <a:ext cx="7308216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1438201" y="3785312"/>
            <a:ext cx="725843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9854820" y="2569033"/>
            <a:ext cx="11360765" cy="7204618"/>
          </a:xfrm>
          <a:custGeom>
            <a:avLst/>
            <a:gdLst/>
            <a:ahLst/>
            <a:cxnLst/>
            <a:rect l="l" t="t" r="r" b="b"/>
            <a:pathLst>
              <a:path w="11360765" h="7204618">
                <a:moveTo>
                  <a:pt x="0" y="0"/>
                </a:moveTo>
                <a:lnTo>
                  <a:pt x="11360765" y="0"/>
                </a:lnTo>
                <a:lnTo>
                  <a:pt x="11360765" y="7204619"/>
                </a:lnTo>
                <a:lnTo>
                  <a:pt x="0" y="72046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0758561" y="3415345"/>
            <a:ext cx="7273994" cy="5034429"/>
          </a:xfrm>
          <a:custGeom>
            <a:avLst/>
            <a:gdLst/>
            <a:ahLst/>
            <a:cxnLst/>
            <a:rect l="l" t="t" r="r" b="b"/>
            <a:pathLst>
              <a:path w="7273994" h="5034429">
                <a:moveTo>
                  <a:pt x="0" y="0"/>
                </a:moveTo>
                <a:lnTo>
                  <a:pt x="7273994" y="0"/>
                </a:lnTo>
                <a:lnTo>
                  <a:pt x="7273994" y="5034429"/>
                </a:lnTo>
                <a:lnTo>
                  <a:pt x="0" y="503442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r="-2109" b="-1065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831147" y="-119580"/>
            <a:ext cx="6726616" cy="306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28"/>
              </a:lnSpc>
            </a:pPr>
            <a:r>
              <a:rPr lang="en-US" sz="14948" b="1">
                <a:solidFill>
                  <a:srgbClr val="FFFFFF"/>
                </a:solidFill>
                <a:latin typeface="Kitchakan Bold"/>
                <a:ea typeface="Kitchakan Bold"/>
                <a:cs typeface="Kitchakan Bold"/>
                <a:sym typeface="Kitchakan Bold"/>
              </a:rPr>
              <a:t>THE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365289" y="-94915"/>
            <a:ext cx="7969538" cy="306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28"/>
              </a:lnSpc>
            </a:pPr>
            <a:r>
              <a:rPr lang="en-US" sz="14948">
                <a:solidFill>
                  <a:srgbClr val="FFFFFF"/>
                </a:solidFill>
                <a:latin typeface="Kitchakan"/>
                <a:ea typeface="Kitchakan"/>
                <a:cs typeface="Kitchakan"/>
                <a:sym typeface="Kitchakan"/>
              </a:rPr>
              <a:t>PROBLEM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38201" y="3153070"/>
            <a:ext cx="8750598" cy="505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85"/>
              </a:lnSpc>
            </a:pPr>
            <a:r>
              <a:rPr lang="en-US" sz="3242" b="1" spc="-77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Student Time is Scarce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38201" y="3894051"/>
            <a:ext cx="7856966" cy="96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52"/>
              </a:lnSpc>
            </a:pPr>
            <a:r>
              <a:rPr lang="en-US" sz="2025" spc="-48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Peak waits during the 11:30-1:30 lunch window exceed the gap between classes, forcing students to skip out on eating at Roots.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78182" y="5960662"/>
            <a:ext cx="8810617" cy="518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13"/>
              </a:lnSpc>
            </a:pPr>
            <a:r>
              <a:rPr lang="en-US" sz="3264" b="1" spc="-78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Lost Revenue for Roots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98521" y="6717306"/>
            <a:ext cx="7910855" cy="96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69"/>
              </a:lnSpc>
            </a:pPr>
            <a:r>
              <a:rPr lang="en-US" sz="2039" spc="-48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Customers who see a long queue leave without ordering. Queue buildup directly affects throughput and daily sales.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383493" y="0"/>
            <a:ext cx="10589106" cy="10589106"/>
          </a:xfrm>
          <a:custGeom>
            <a:avLst/>
            <a:gdLst/>
            <a:ahLst/>
            <a:cxnLst/>
            <a:rect l="l" t="t" r="r" b="b"/>
            <a:pathLst>
              <a:path w="10589106" h="10589106">
                <a:moveTo>
                  <a:pt x="0" y="0"/>
                </a:moveTo>
                <a:lnTo>
                  <a:pt x="10589106" y="0"/>
                </a:lnTo>
                <a:lnTo>
                  <a:pt x="10589106" y="10589106"/>
                </a:lnTo>
                <a:lnTo>
                  <a:pt x="0" y="10589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248608" y="116532"/>
            <a:ext cx="10379890" cy="10589106"/>
          </a:xfrm>
          <a:custGeom>
            <a:avLst/>
            <a:gdLst/>
            <a:ahLst/>
            <a:cxnLst/>
            <a:rect l="l" t="t" r="r" b="b"/>
            <a:pathLst>
              <a:path w="10379890" h="10589106">
                <a:moveTo>
                  <a:pt x="0" y="0"/>
                </a:moveTo>
                <a:lnTo>
                  <a:pt x="10379890" y="0"/>
                </a:lnTo>
                <a:lnTo>
                  <a:pt x="10379890" y="10589106"/>
                </a:lnTo>
                <a:lnTo>
                  <a:pt x="0" y="10589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0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919391" y="260802"/>
            <a:ext cx="1920244" cy="820386"/>
          </a:xfrm>
          <a:custGeom>
            <a:avLst/>
            <a:gdLst/>
            <a:ahLst/>
            <a:cxnLst/>
            <a:rect l="l" t="t" r="r" b="b"/>
            <a:pathLst>
              <a:path w="1920244" h="820386">
                <a:moveTo>
                  <a:pt x="0" y="0"/>
                </a:moveTo>
                <a:lnTo>
                  <a:pt x="1920244" y="0"/>
                </a:lnTo>
                <a:lnTo>
                  <a:pt x="1920244" y="820386"/>
                </a:lnTo>
                <a:lnTo>
                  <a:pt x="0" y="8203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9406085" y="2132050"/>
            <a:ext cx="7853215" cy="7370604"/>
          </a:xfrm>
          <a:custGeom>
            <a:avLst/>
            <a:gdLst/>
            <a:ahLst/>
            <a:cxnLst/>
            <a:rect l="l" t="t" r="r" b="b"/>
            <a:pathLst>
              <a:path w="7853215" h="7370604">
                <a:moveTo>
                  <a:pt x="0" y="0"/>
                </a:moveTo>
                <a:lnTo>
                  <a:pt x="7853215" y="0"/>
                </a:lnTo>
                <a:lnTo>
                  <a:pt x="7853215" y="7370603"/>
                </a:lnTo>
                <a:lnTo>
                  <a:pt x="0" y="73706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8421" b="-5124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31147" y="223320"/>
            <a:ext cx="3865708" cy="1756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27"/>
              </a:lnSpc>
            </a:pPr>
            <a:r>
              <a:rPr lang="en-US" sz="8590" b="1">
                <a:solidFill>
                  <a:srgbClr val="FFFFFF"/>
                </a:solidFill>
                <a:latin typeface="Kitchakan Bold"/>
                <a:ea typeface="Kitchakan Bold"/>
                <a:cs typeface="Kitchakan Bold"/>
                <a:sym typeface="Kitchakan Bold"/>
              </a:rPr>
              <a:t>THE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87489" y="237495"/>
            <a:ext cx="5320916" cy="1756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27"/>
              </a:lnSpc>
            </a:pPr>
            <a:r>
              <a:rPr lang="en-US" sz="8590">
                <a:solidFill>
                  <a:srgbClr val="FFFFFF"/>
                </a:solidFill>
                <a:latin typeface="Kitchakan"/>
                <a:ea typeface="Kitchakan"/>
                <a:cs typeface="Kitchakan"/>
                <a:sym typeface="Kitchakan"/>
              </a:rPr>
              <a:t>SYSTEM &amp; DATA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53340" y="2132050"/>
            <a:ext cx="8352274" cy="7520141"/>
            <a:chOff x="0" y="0"/>
            <a:chExt cx="11136365" cy="1002685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47625"/>
              <a:ext cx="11007513" cy="2885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52"/>
                </a:lnSpc>
              </a:pPr>
              <a:r>
                <a:rPr lang="en-US" sz="2466" b="1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OBSERVED 3 WEEKDAY LUNCH RUSHES, RECORDED 6 TIMESTAMPS PER CUSTOMER:</a:t>
              </a:r>
              <a:r>
                <a:rPr lang="en-US" sz="2466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</a:t>
              </a:r>
            </a:p>
            <a:p>
              <a:pPr algn="l">
                <a:lnSpc>
                  <a:spcPts val="3452"/>
                </a:lnSpc>
              </a:pPr>
              <a:r>
                <a:rPr lang="en-US" sz="2466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ARRIVAL, START AT EACH OF THE 3 ASSEMBLY STATIONS, AND DEPARTURE. </a:t>
              </a:r>
            </a:p>
            <a:p>
              <a:pPr algn="l">
                <a:lnSpc>
                  <a:spcPts val="3452"/>
                </a:lnSpc>
              </a:pPr>
              <a:endPara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793882"/>
              <a:ext cx="11007513" cy="1716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52"/>
                </a:lnSpc>
              </a:pPr>
              <a:r>
                <a:rPr lang="en-US" sz="2466" b="1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TO MAKE OUR DATA BEHAVE</a:t>
              </a:r>
            </a:p>
            <a:p>
              <a:pPr algn="l">
                <a:lnSpc>
                  <a:spcPts val="3452"/>
                </a:lnSpc>
              </a:pPr>
              <a:r>
                <a:rPr lang="en-US" sz="2466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WE STAGGERED EACH CUSTOMER, EVEN IF THEY ARRIVED IN BATCHES.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5140909"/>
              <a:ext cx="4946185" cy="463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52"/>
                </a:lnSpc>
              </a:pPr>
              <a:r>
                <a:rPr lang="en-US" sz="2466" b="1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FRIDAY FRENZY</a:t>
              </a:r>
            </a:p>
            <a:p>
              <a:pPr algn="l">
                <a:lnSpc>
                  <a:spcPts val="3452"/>
                </a:lnSpc>
              </a:pPr>
              <a:r>
                <a:rPr lang="en-US" sz="2466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DAY 3 WAS THE BUSIEST BY FAR WITH 48.5 CUSTOMERS PER HOUR! WITH THIS DEMAND, AVERAGE QUEUING DELAY ROSE TO 5.7 MINUTES. 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59137" y="5140909"/>
              <a:ext cx="2029642" cy="654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81"/>
                </a:lnSpc>
              </a:pPr>
              <a:r>
                <a:rPr lang="en-US" sz="2987" b="1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DAY 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49385" y="5484340"/>
              <a:ext cx="2449145" cy="20314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886"/>
                </a:lnSpc>
              </a:pPr>
              <a:r>
                <a:rPr lang="en-US" sz="9204" b="1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50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94037" y="7651998"/>
              <a:ext cx="2029642" cy="654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81"/>
                </a:lnSpc>
              </a:pPr>
              <a:r>
                <a:rPr lang="en-US" sz="2987" b="1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DAY 01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84285" y="7995429"/>
              <a:ext cx="2449145" cy="20314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886"/>
                </a:lnSpc>
              </a:pPr>
              <a:r>
                <a:rPr lang="en-US" sz="9204" b="1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44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30295" y="5140909"/>
              <a:ext cx="2029642" cy="654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81"/>
                </a:lnSpc>
              </a:pPr>
              <a:r>
                <a:rPr lang="en-US" sz="2987" b="1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DAY 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20543" y="5484340"/>
              <a:ext cx="2449145" cy="20314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886"/>
                </a:lnSpc>
              </a:pPr>
              <a:r>
                <a:rPr lang="en-US" sz="9204" b="1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53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20543" y="7992555"/>
              <a:ext cx="3315822" cy="20314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886"/>
                </a:lnSpc>
              </a:pPr>
              <a:r>
                <a:rPr lang="en-US" sz="9204" b="1">
                  <a:solidFill>
                    <a:srgbClr val="FFDE5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147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75225" y="7651998"/>
              <a:ext cx="2029642" cy="6449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81"/>
                </a:lnSpc>
              </a:pPr>
              <a:r>
                <a:rPr lang="en-US" sz="2987" b="1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TOTAL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7692295" y="9604566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383493" y="0"/>
            <a:ext cx="10589106" cy="10589106"/>
          </a:xfrm>
          <a:custGeom>
            <a:avLst/>
            <a:gdLst/>
            <a:ahLst/>
            <a:cxnLst/>
            <a:rect l="l" t="t" r="r" b="b"/>
            <a:pathLst>
              <a:path w="10589106" h="10589106">
                <a:moveTo>
                  <a:pt x="0" y="0"/>
                </a:moveTo>
                <a:lnTo>
                  <a:pt x="10589106" y="0"/>
                </a:lnTo>
                <a:lnTo>
                  <a:pt x="10589106" y="10589106"/>
                </a:lnTo>
                <a:lnTo>
                  <a:pt x="0" y="105891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205613" y="0"/>
            <a:ext cx="10379890" cy="10589106"/>
          </a:xfrm>
          <a:custGeom>
            <a:avLst/>
            <a:gdLst/>
            <a:ahLst/>
            <a:cxnLst/>
            <a:rect l="l" t="t" r="r" b="b"/>
            <a:pathLst>
              <a:path w="10379890" h="10589106">
                <a:moveTo>
                  <a:pt x="0" y="0"/>
                </a:moveTo>
                <a:lnTo>
                  <a:pt x="10379890" y="0"/>
                </a:lnTo>
                <a:lnTo>
                  <a:pt x="10379890" y="10589106"/>
                </a:lnTo>
                <a:lnTo>
                  <a:pt x="0" y="105891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0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919391" y="260802"/>
            <a:ext cx="1920244" cy="820386"/>
          </a:xfrm>
          <a:custGeom>
            <a:avLst/>
            <a:gdLst/>
            <a:ahLst/>
            <a:cxnLst/>
            <a:rect l="l" t="t" r="r" b="b"/>
            <a:pathLst>
              <a:path w="1920244" h="820386">
                <a:moveTo>
                  <a:pt x="0" y="0"/>
                </a:moveTo>
                <a:lnTo>
                  <a:pt x="1920244" y="0"/>
                </a:lnTo>
                <a:lnTo>
                  <a:pt x="1920244" y="820386"/>
                </a:lnTo>
                <a:lnTo>
                  <a:pt x="0" y="8203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6" name="Picture 6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2380" end="1775"/>
                </p14:media>
              </p:ext>
            </p:extLst>
          </p:nvPr>
        </p:nvPicPr>
        <p:blipFill>
          <a:blip r:embed="rId8"/>
          <a:srcRect l="10805" t="5283" b="7668"/>
          <a:stretch>
            <a:fillRect/>
          </a:stretch>
        </p:blipFill>
        <p:spPr>
          <a:xfrm>
            <a:off x="816670" y="2099370"/>
            <a:ext cx="8140157" cy="7517986"/>
          </a:xfrm>
          <a:prstGeom prst="rect">
            <a:avLst/>
          </a:prstGeom>
          <a:ln w="19050" cap="sq">
            <a:solidFill>
              <a:srgbClr val="000000"/>
            </a:solidFill>
            <a:prstDash val="solid"/>
          </a:ln>
        </p:spPr>
      </p:pic>
      <p:sp>
        <p:nvSpPr>
          <p:cNvPr id="7" name="TextBox 7"/>
          <p:cNvSpPr txBox="1"/>
          <p:nvPr/>
        </p:nvSpPr>
        <p:spPr>
          <a:xfrm>
            <a:off x="831147" y="223320"/>
            <a:ext cx="3865708" cy="1756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27"/>
              </a:lnSpc>
            </a:pPr>
            <a:r>
              <a:rPr lang="en-US" sz="8590" b="1">
                <a:solidFill>
                  <a:srgbClr val="FFFFFF"/>
                </a:solidFill>
                <a:latin typeface="Kitchakan Bold"/>
                <a:ea typeface="Kitchakan Bold"/>
                <a:cs typeface="Kitchakan Bold"/>
                <a:sym typeface="Kitchakan Bold"/>
              </a:rPr>
              <a:t>DATA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64001" y="223320"/>
            <a:ext cx="5320916" cy="1756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27"/>
              </a:lnSpc>
            </a:pPr>
            <a:r>
              <a:rPr lang="en-US" sz="8590">
                <a:solidFill>
                  <a:srgbClr val="FFFFFF"/>
                </a:solidFill>
                <a:latin typeface="Kitchakan"/>
                <a:ea typeface="Kitchakan"/>
                <a:cs typeface="Kitchakan"/>
                <a:sym typeface="Kitchakan"/>
              </a:rPr>
              <a:t>VALIDATION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313817" y="4898764"/>
            <a:ext cx="8189561" cy="1919198"/>
            <a:chOff x="0" y="0"/>
            <a:chExt cx="10919414" cy="2558931"/>
          </a:xfrm>
        </p:grpSpPr>
        <p:grpSp>
          <p:nvGrpSpPr>
            <p:cNvPr id="10" name="Group 10"/>
            <p:cNvGrpSpPr/>
            <p:nvPr/>
          </p:nvGrpSpPr>
          <p:grpSpPr>
            <a:xfrm>
              <a:off x="151228" y="0"/>
              <a:ext cx="10582730" cy="2546469"/>
              <a:chOff x="0" y="0"/>
              <a:chExt cx="2229358" cy="53643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229358" cy="536439"/>
              </a:xfrm>
              <a:custGeom>
                <a:avLst/>
                <a:gdLst/>
                <a:ahLst/>
                <a:cxnLst/>
                <a:rect l="l" t="t" r="r" b="b"/>
                <a:pathLst>
                  <a:path w="2229358" h="536439">
                    <a:moveTo>
                      <a:pt x="0" y="0"/>
                    </a:moveTo>
                    <a:lnTo>
                      <a:pt x="2229358" y="0"/>
                    </a:lnTo>
                    <a:lnTo>
                      <a:pt x="2229358" y="536439"/>
                    </a:lnTo>
                    <a:lnTo>
                      <a:pt x="0" y="536439"/>
                    </a:lnTo>
                    <a:close/>
                  </a:path>
                </a:pathLst>
              </a:custGeom>
              <a:solidFill>
                <a:srgbClr val="FFFFFF">
                  <a:alpha val="85882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28575"/>
                <a:ext cx="2229358" cy="5650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72"/>
                  </a:lnSpc>
                </a:pPr>
                <a:endParaRPr/>
              </a:p>
            </p:txBody>
          </p:sp>
        </p:grpSp>
        <p:sp>
          <p:nvSpPr>
            <p:cNvPr id="13" name="AutoShape 13"/>
            <p:cNvSpPr/>
            <p:nvPr/>
          </p:nvSpPr>
          <p:spPr>
            <a:xfrm>
              <a:off x="670597" y="935470"/>
              <a:ext cx="8501172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0597" y="230710"/>
              <a:ext cx="10248817" cy="5630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426"/>
                </a:lnSpc>
              </a:pPr>
              <a:r>
                <a:rPr lang="en-US" sz="2719" b="1" spc="-65">
                  <a:solidFill>
                    <a:srgbClr val="000000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M/M/3: Doesn’t Match System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0597" y="1073396"/>
              <a:ext cx="9202183" cy="10590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0"/>
                </a:lnSpc>
              </a:pPr>
              <a:r>
                <a:rPr lang="en-US" sz="1698" spc="-40">
                  <a:solidFill>
                    <a:srgbClr val="0000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Assumes customers pick any server freely.</a:t>
              </a:r>
            </a:p>
            <a:p>
              <a:pPr algn="l">
                <a:lnSpc>
                  <a:spcPts val="2140"/>
                </a:lnSpc>
              </a:pPr>
              <a:r>
                <a:rPr lang="en-US" sz="1698" spc="-40">
                  <a:solidFill>
                    <a:srgbClr val="0000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Roots is sequential: base → toppings → checkout.</a:t>
              </a:r>
            </a:p>
            <a:p>
              <a:pPr algn="l">
                <a:lnSpc>
                  <a:spcPts val="2140"/>
                </a:lnSpc>
              </a:pPr>
              <a:r>
                <a:rPr lang="en-US" sz="1698" spc="-40">
                  <a:solidFill>
                    <a:srgbClr val="0000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You cannot skip ahead to an open station.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0" y="0"/>
              <a:ext cx="302456" cy="2558931"/>
              <a:chOff x="0" y="0"/>
              <a:chExt cx="59744" cy="50546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9744" cy="505468"/>
              </a:xfrm>
              <a:custGeom>
                <a:avLst/>
                <a:gdLst/>
                <a:ahLst/>
                <a:cxnLst/>
                <a:rect l="l" t="t" r="r" b="b"/>
                <a:pathLst>
                  <a:path w="59744" h="505468">
                    <a:moveTo>
                      <a:pt x="0" y="0"/>
                    </a:moveTo>
                    <a:lnTo>
                      <a:pt x="59744" y="0"/>
                    </a:lnTo>
                    <a:lnTo>
                      <a:pt x="59744" y="505468"/>
                    </a:lnTo>
                    <a:lnTo>
                      <a:pt x="0" y="505468"/>
                    </a:lnTo>
                    <a:close/>
                  </a:path>
                </a:pathLst>
              </a:custGeom>
              <a:solidFill>
                <a:srgbClr val="CA886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28575"/>
                <a:ext cx="59744" cy="5340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72"/>
                  </a:lnSpc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>
            <a:off x="9313817" y="7698157"/>
            <a:ext cx="8181605" cy="1919198"/>
            <a:chOff x="0" y="0"/>
            <a:chExt cx="10908806" cy="2558931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10199132" cy="2546469"/>
              <a:chOff x="0" y="0"/>
              <a:chExt cx="2148549" cy="536439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2148549" cy="536439"/>
              </a:xfrm>
              <a:custGeom>
                <a:avLst/>
                <a:gdLst/>
                <a:ahLst/>
                <a:cxnLst/>
                <a:rect l="l" t="t" r="r" b="b"/>
                <a:pathLst>
                  <a:path w="2148549" h="536439">
                    <a:moveTo>
                      <a:pt x="0" y="0"/>
                    </a:moveTo>
                    <a:lnTo>
                      <a:pt x="2148549" y="0"/>
                    </a:lnTo>
                    <a:lnTo>
                      <a:pt x="2148549" y="536439"/>
                    </a:lnTo>
                    <a:lnTo>
                      <a:pt x="0" y="536439"/>
                    </a:lnTo>
                    <a:close/>
                  </a:path>
                </a:pathLst>
              </a:custGeom>
              <a:solidFill>
                <a:srgbClr val="FFFFFF">
                  <a:alpha val="85882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28575"/>
                <a:ext cx="2148549" cy="5650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72"/>
                  </a:lnSpc>
                </a:pPr>
                <a:endParaRPr/>
              </a:p>
            </p:txBody>
          </p:sp>
        </p:grpSp>
        <p:sp>
          <p:nvSpPr>
            <p:cNvPr id="23" name="AutoShape 23"/>
            <p:cNvSpPr/>
            <p:nvPr/>
          </p:nvSpPr>
          <p:spPr>
            <a:xfrm>
              <a:off x="659989" y="935470"/>
              <a:ext cx="8501172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9989" y="230710"/>
              <a:ext cx="10248817" cy="5630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426"/>
                </a:lnSpc>
              </a:pPr>
              <a:r>
                <a:rPr lang="en-US" sz="2719" b="1" spc="-65">
                  <a:solidFill>
                    <a:srgbClr val="000000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Tandem 3 x M/M/M1: Supported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9989" y="1068846"/>
              <a:ext cx="8704532" cy="10636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140"/>
                </a:lnSpc>
              </a:pPr>
              <a:r>
                <a:rPr lang="en-US" sz="1698" spc="-40">
                  <a:solidFill>
                    <a:srgbClr val="0000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Service time flat at ~1.5 min for 1–3 concurrent →</a:t>
              </a:r>
            </a:p>
            <a:p>
              <a:pPr algn="just">
                <a:lnSpc>
                  <a:spcPts val="2140"/>
                </a:lnSpc>
              </a:pPr>
              <a:r>
                <a:rPr lang="en-US" sz="1698" spc="-40">
                  <a:solidFill>
                    <a:srgbClr val="0000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3 independent stations. Beyond 3, congestion rises.</a:t>
              </a:r>
            </a:p>
            <a:p>
              <a:pPr algn="just">
                <a:lnSpc>
                  <a:spcPts val="2140"/>
                </a:lnSpc>
              </a:pPr>
              <a:r>
                <a:rPr lang="en-US" sz="1698" spc="-40">
                  <a:solidFill>
                    <a:srgbClr val="0000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Sequential flow matches Roots' physical layout.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8547" y="0"/>
              <a:ext cx="302456" cy="2558931"/>
              <a:chOff x="0" y="0"/>
              <a:chExt cx="59744" cy="50546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59744" cy="505468"/>
              </a:xfrm>
              <a:custGeom>
                <a:avLst/>
                <a:gdLst/>
                <a:ahLst/>
                <a:cxnLst/>
                <a:rect l="l" t="t" r="r" b="b"/>
                <a:pathLst>
                  <a:path w="59744" h="505468">
                    <a:moveTo>
                      <a:pt x="0" y="0"/>
                    </a:moveTo>
                    <a:lnTo>
                      <a:pt x="59744" y="0"/>
                    </a:lnTo>
                    <a:lnTo>
                      <a:pt x="59744" y="505468"/>
                    </a:lnTo>
                    <a:lnTo>
                      <a:pt x="0" y="505468"/>
                    </a:lnTo>
                    <a:close/>
                  </a:path>
                </a:pathLst>
              </a:custGeom>
              <a:solidFill>
                <a:srgbClr val="3982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28575"/>
                <a:ext cx="59744" cy="5340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72"/>
                  </a:lnSpc>
                </a:pPr>
                <a:endParaRPr/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>
            <a:off x="9313817" y="2204323"/>
            <a:ext cx="8267863" cy="1919198"/>
            <a:chOff x="0" y="0"/>
            <a:chExt cx="11023817" cy="2558931"/>
          </a:xfrm>
        </p:grpSpPr>
        <p:grpSp>
          <p:nvGrpSpPr>
            <p:cNvPr id="30" name="Group 30"/>
            <p:cNvGrpSpPr/>
            <p:nvPr/>
          </p:nvGrpSpPr>
          <p:grpSpPr>
            <a:xfrm>
              <a:off x="198815" y="12462"/>
              <a:ext cx="10825002" cy="2546469"/>
              <a:chOff x="0" y="0"/>
              <a:chExt cx="2280395" cy="536439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2280395" cy="536439"/>
              </a:xfrm>
              <a:custGeom>
                <a:avLst/>
                <a:gdLst/>
                <a:ahLst/>
                <a:cxnLst/>
                <a:rect l="l" t="t" r="r" b="b"/>
                <a:pathLst>
                  <a:path w="2280395" h="536439">
                    <a:moveTo>
                      <a:pt x="0" y="0"/>
                    </a:moveTo>
                    <a:lnTo>
                      <a:pt x="2280395" y="0"/>
                    </a:lnTo>
                    <a:lnTo>
                      <a:pt x="2280395" y="536439"/>
                    </a:lnTo>
                    <a:lnTo>
                      <a:pt x="0" y="536439"/>
                    </a:lnTo>
                    <a:close/>
                  </a:path>
                </a:pathLst>
              </a:custGeom>
              <a:solidFill>
                <a:srgbClr val="FFFFFF">
                  <a:alpha val="85882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28575"/>
                <a:ext cx="2280395" cy="5650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72"/>
                  </a:lnSpc>
                </a:pPr>
                <a:endParaRPr/>
              </a:p>
            </p:txBody>
          </p:sp>
        </p:grpSp>
        <p:sp>
          <p:nvSpPr>
            <p:cNvPr id="33" name="AutoShape 33"/>
            <p:cNvSpPr/>
            <p:nvPr/>
          </p:nvSpPr>
          <p:spPr>
            <a:xfrm>
              <a:off x="651443" y="795532"/>
              <a:ext cx="8501172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1443" y="90772"/>
              <a:ext cx="10248817" cy="5630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426"/>
                </a:lnSpc>
              </a:pPr>
              <a:r>
                <a:rPr lang="en-US" sz="2719" b="1" spc="-65">
                  <a:solidFill>
                    <a:srgbClr val="000000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M/M/1: Unstable at Peak Demand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1443" y="932057"/>
              <a:ext cx="8503055" cy="10636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140"/>
                </a:lnSpc>
              </a:pPr>
              <a:r>
                <a:rPr lang="en-US" sz="1698" spc="-40">
                  <a:solidFill>
                    <a:srgbClr val="0000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λ = 48.5/hr but μ1 = 51/hr, ρ1 = 0.95 (Day 3)</a:t>
              </a:r>
            </a:p>
            <a:p>
              <a:pPr algn="just">
                <a:lnSpc>
                  <a:spcPts val="2140"/>
                </a:lnSpc>
              </a:pPr>
              <a:r>
                <a:rPr lang="en-US" sz="1698" spc="-40">
                  <a:solidFill>
                    <a:srgbClr val="0000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As ρ → 1, queuing delay increases sharply.</a:t>
              </a:r>
            </a:p>
            <a:p>
              <a:pPr algn="just">
                <a:lnSpc>
                  <a:spcPts val="2140"/>
                </a:lnSpc>
              </a:pPr>
              <a:endParaRPr lang="en-US" sz="1698" spc="-4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0" y="0"/>
              <a:ext cx="302456" cy="2558931"/>
              <a:chOff x="0" y="0"/>
              <a:chExt cx="59744" cy="505468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59744" cy="505468"/>
              </a:xfrm>
              <a:custGeom>
                <a:avLst/>
                <a:gdLst/>
                <a:ahLst/>
                <a:cxnLst/>
                <a:rect l="l" t="t" r="r" b="b"/>
                <a:pathLst>
                  <a:path w="59744" h="505468">
                    <a:moveTo>
                      <a:pt x="0" y="0"/>
                    </a:moveTo>
                    <a:lnTo>
                      <a:pt x="59744" y="0"/>
                    </a:lnTo>
                    <a:lnTo>
                      <a:pt x="59744" y="505468"/>
                    </a:lnTo>
                    <a:lnTo>
                      <a:pt x="0" y="505468"/>
                    </a:lnTo>
                    <a:close/>
                  </a:path>
                </a:pathLst>
              </a:custGeom>
              <a:solidFill>
                <a:srgbClr val="CA886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28575"/>
                <a:ext cx="59744" cy="5340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72"/>
                  </a:lnSpc>
                </a:pPr>
                <a:endParaRPr/>
              </a:p>
            </p:txBody>
          </p:sp>
        </p:grpSp>
      </p:grpSp>
      <p:sp>
        <p:nvSpPr>
          <p:cNvPr id="39" name="TextBox 39"/>
          <p:cNvSpPr txBox="1"/>
          <p:nvPr/>
        </p:nvSpPr>
        <p:spPr>
          <a:xfrm>
            <a:off x="17839635" y="968684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383493" y="0"/>
            <a:ext cx="10589106" cy="10589106"/>
          </a:xfrm>
          <a:custGeom>
            <a:avLst/>
            <a:gdLst/>
            <a:ahLst/>
            <a:cxnLst/>
            <a:rect l="l" t="t" r="r" b="b"/>
            <a:pathLst>
              <a:path w="10589106" h="10589106">
                <a:moveTo>
                  <a:pt x="0" y="0"/>
                </a:moveTo>
                <a:lnTo>
                  <a:pt x="10589106" y="0"/>
                </a:lnTo>
                <a:lnTo>
                  <a:pt x="10589106" y="10589106"/>
                </a:lnTo>
                <a:lnTo>
                  <a:pt x="0" y="10589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205613" y="0"/>
            <a:ext cx="10379890" cy="10589106"/>
          </a:xfrm>
          <a:custGeom>
            <a:avLst/>
            <a:gdLst/>
            <a:ahLst/>
            <a:cxnLst/>
            <a:rect l="l" t="t" r="r" b="b"/>
            <a:pathLst>
              <a:path w="10379890" h="10589106">
                <a:moveTo>
                  <a:pt x="0" y="0"/>
                </a:moveTo>
                <a:lnTo>
                  <a:pt x="10379890" y="0"/>
                </a:lnTo>
                <a:lnTo>
                  <a:pt x="10379890" y="10589106"/>
                </a:lnTo>
                <a:lnTo>
                  <a:pt x="0" y="10589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015"/>
            </a:stretch>
          </a:blipFill>
          <a:ln w="19050" cap="sq">
            <a:solidFill>
              <a:srgbClr val="000000">
                <a:alpha val="7843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919391" y="260802"/>
            <a:ext cx="1920244" cy="820386"/>
          </a:xfrm>
          <a:custGeom>
            <a:avLst/>
            <a:gdLst/>
            <a:ahLst/>
            <a:cxnLst/>
            <a:rect l="l" t="t" r="r" b="b"/>
            <a:pathLst>
              <a:path w="1920244" h="820386">
                <a:moveTo>
                  <a:pt x="0" y="0"/>
                </a:moveTo>
                <a:lnTo>
                  <a:pt x="1920244" y="0"/>
                </a:lnTo>
                <a:lnTo>
                  <a:pt x="1920244" y="820386"/>
                </a:lnTo>
                <a:lnTo>
                  <a:pt x="0" y="8203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9191136" y="2099370"/>
            <a:ext cx="3968054" cy="3560875"/>
          </a:xfrm>
          <a:custGeom>
            <a:avLst/>
            <a:gdLst/>
            <a:ahLst/>
            <a:cxnLst/>
            <a:rect l="l" t="t" r="r" b="b"/>
            <a:pathLst>
              <a:path w="3968054" h="3560875">
                <a:moveTo>
                  <a:pt x="0" y="0"/>
                </a:moveTo>
                <a:lnTo>
                  <a:pt x="3968054" y="0"/>
                </a:lnTo>
                <a:lnTo>
                  <a:pt x="3968054" y="3560875"/>
                </a:lnTo>
                <a:lnTo>
                  <a:pt x="0" y="3560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2521" r="-288365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31147" y="223320"/>
            <a:ext cx="3865708" cy="1756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27"/>
              </a:lnSpc>
            </a:pPr>
            <a:r>
              <a:rPr lang="en-US" sz="8590" b="1">
                <a:solidFill>
                  <a:srgbClr val="FFFFFF"/>
                </a:solidFill>
                <a:latin typeface="Kitchakan Bold"/>
                <a:ea typeface="Kitchakan Bold"/>
                <a:cs typeface="Kitchakan Bold"/>
                <a:sym typeface="Kitchakan Bold"/>
              </a:rPr>
              <a:t>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11060" y="223320"/>
            <a:ext cx="5320916" cy="1756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27"/>
              </a:lnSpc>
            </a:pPr>
            <a:r>
              <a:rPr lang="en-US" sz="8590">
                <a:solidFill>
                  <a:srgbClr val="FFFFFF"/>
                </a:solidFill>
                <a:latin typeface="Kitchakan"/>
                <a:ea typeface="Kitchakan"/>
                <a:cs typeface="Kitchakan"/>
                <a:sym typeface="Kitchakan"/>
              </a:rPr>
              <a:t>VALIDATION</a:t>
            </a:r>
          </a:p>
        </p:txBody>
      </p:sp>
      <p:sp>
        <p:nvSpPr>
          <p:cNvPr id="9" name="Freeform 9"/>
          <p:cNvSpPr/>
          <p:nvPr/>
        </p:nvSpPr>
        <p:spPr>
          <a:xfrm>
            <a:off x="13483901" y="2099370"/>
            <a:ext cx="3987429" cy="3560875"/>
          </a:xfrm>
          <a:custGeom>
            <a:avLst/>
            <a:gdLst/>
            <a:ahLst/>
            <a:cxnLst/>
            <a:rect l="l" t="t" r="r" b="b"/>
            <a:pathLst>
              <a:path w="3987429" h="3560875">
                <a:moveTo>
                  <a:pt x="0" y="0"/>
                </a:moveTo>
                <a:lnTo>
                  <a:pt x="3987429" y="0"/>
                </a:lnTo>
                <a:lnTo>
                  <a:pt x="3987429" y="3560875"/>
                </a:lnTo>
                <a:lnTo>
                  <a:pt x="0" y="3560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5726" t="-12521" r="-190752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9191136" y="6056481"/>
            <a:ext cx="3968054" cy="3560875"/>
          </a:xfrm>
          <a:custGeom>
            <a:avLst/>
            <a:gdLst/>
            <a:ahLst/>
            <a:cxnLst/>
            <a:rect l="l" t="t" r="r" b="b"/>
            <a:pathLst>
              <a:path w="3968054" h="3560875">
                <a:moveTo>
                  <a:pt x="0" y="0"/>
                </a:moveTo>
                <a:lnTo>
                  <a:pt x="3968054" y="0"/>
                </a:lnTo>
                <a:lnTo>
                  <a:pt x="3968054" y="3560875"/>
                </a:lnTo>
                <a:lnTo>
                  <a:pt x="0" y="3560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04023" t="-15183" r="-100876" b="-2128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3483901" y="6056481"/>
            <a:ext cx="3987429" cy="3560875"/>
          </a:xfrm>
          <a:custGeom>
            <a:avLst/>
            <a:gdLst/>
            <a:ahLst/>
            <a:cxnLst/>
            <a:rect l="l" t="t" r="r" b="b"/>
            <a:pathLst>
              <a:path w="3987429" h="3560875">
                <a:moveTo>
                  <a:pt x="0" y="0"/>
                </a:moveTo>
                <a:lnTo>
                  <a:pt x="3987429" y="0"/>
                </a:lnTo>
                <a:lnTo>
                  <a:pt x="3987429" y="3560875"/>
                </a:lnTo>
                <a:lnTo>
                  <a:pt x="0" y="3560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09060" t="-16174" b="-2921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678785" y="2438248"/>
            <a:ext cx="8036139" cy="217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DISTRIBUTION FITTING</a:t>
            </a:r>
          </a:p>
          <a:p>
            <a:pPr algn="l">
              <a:lnSpc>
                <a:spcPts val="3452"/>
              </a:lnSpc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FIT EXPONENTIAL DISTRIBUTION TO </a:t>
            </a:r>
          </a:p>
          <a:p>
            <a:pPr marL="532469" lvl="1" indent="-266235" algn="l">
              <a:lnSpc>
                <a:spcPts val="3452"/>
              </a:lnSpc>
              <a:buFont typeface="Arial"/>
              <a:buChar char="•"/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INTERARRIVAL TIMES</a:t>
            </a:r>
          </a:p>
          <a:p>
            <a:pPr marL="532469" lvl="1" indent="-266235" algn="l">
              <a:lnSpc>
                <a:spcPts val="3452"/>
              </a:lnSpc>
              <a:buFont typeface="Arial"/>
              <a:buChar char="•"/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SERVICE TIMES (S1, S2, S3)</a:t>
            </a:r>
          </a:p>
          <a:p>
            <a:pPr algn="l">
              <a:lnSpc>
                <a:spcPts val="3452"/>
              </a:lnSpc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COMPARED EMPIRICAL HIST TO </a:t>
            </a:r>
            <a:r>
              <a:rPr lang="en-US" sz="2466" b="1">
                <a:solidFill>
                  <a:srgbClr val="FFDE5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FITTED CURVES</a:t>
            </a: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8785" y="5198558"/>
            <a:ext cx="8036139" cy="217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STATISTICAL CHECK</a:t>
            </a:r>
          </a:p>
          <a:p>
            <a:pPr algn="l">
              <a:lnSpc>
                <a:spcPts val="3452"/>
              </a:lnSpc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COMPUTED COEFF OF VARIATION:</a:t>
            </a:r>
          </a:p>
          <a:p>
            <a:pPr marL="532469" lvl="1" indent="-266235" algn="l">
              <a:lnSpc>
                <a:spcPts val="3452"/>
              </a:lnSpc>
              <a:buFont typeface="Arial"/>
              <a:buChar char="•"/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INTERARRIVAL = 1.04</a:t>
            </a:r>
          </a:p>
          <a:p>
            <a:pPr marL="532469" lvl="1" indent="-266235" algn="l">
              <a:lnSpc>
                <a:spcPts val="3452"/>
              </a:lnSpc>
              <a:buFont typeface="Arial"/>
              <a:buChar char="•"/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S1 = 0.99, S2 = 0.99, S3 = 0.98</a:t>
            </a:r>
          </a:p>
          <a:p>
            <a:pPr algn="l">
              <a:lnSpc>
                <a:spcPts val="3452"/>
              </a:lnSpc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CONSISTENT WITH </a:t>
            </a:r>
            <a:r>
              <a:rPr lang="en-US" sz="2466" b="1">
                <a:solidFill>
                  <a:srgbClr val="FFDE5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EXPONENTIAL ASSUMPTION</a:t>
            </a: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8785" y="7958868"/>
            <a:ext cx="8036139" cy="1299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MODEL JUSTIFIED</a:t>
            </a:r>
          </a:p>
          <a:p>
            <a:pPr algn="l">
              <a:lnSpc>
                <a:spcPts val="3452"/>
              </a:lnSpc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VALIDATED ASSUMPTIONS FOR M/M/1 AT EACH STAGE →</a:t>
            </a:r>
            <a:r>
              <a:rPr lang="en-US" sz="2466">
                <a:solidFill>
                  <a:srgbClr val="FFDE59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en-US" sz="2466" b="1">
                <a:solidFill>
                  <a:srgbClr val="FFDE5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TANDEM (3 X M/M/1)</a:t>
            </a: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764589" y="956973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383493" y="0"/>
            <a:ext cx="10589106" cy="10589106"/>
          </a:xfrm>
          <a:custGeom>
            <a:avLst/>
            <a:gdLst/>
            <a:ahLst/>
            <a:cxnLst/>
            <a:rect l="l" t="t" r="r" b="b"/>
            <a:pathLst>
              <a:path w="10589106" h="10589106">
                <a:moveTo>
                  <a:pt x="0" y="0"/>
                </a:moveTo>
                <a:lnTo>
                  <a:pt x="10589106" y="0"/>
                </a:lnTo>
                <a:lnTo>
                  <a:pt x="10589106" y="10589106"/>
                </a:lnTo>
                <a:lnTo>
                  <a:pt x="0" y="10589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205613" y="0"/>
            <a:ext cx="10379890" cy="10589106"/>
          </a:xfrm>
          <a:custGeom>
            <a:avLst/>
            <a:gdLst/>
            <a:ahLst/>
            <a:cxnLst/>
            <a:rect l="l" t="t" r="r" b="b"/>
            <a:pathLst>
              <a:path w="10379890" h="10589106">
                <a:moveTo>
                  <a:pt x="0" y="0"/>
                </a:moveTo>
                <a:lnTo>
                  <a:pt x="10379890" y="0"/>
                </a:lnTo>
                <a:lnTo>
                  <a:pt x="10379890" y="10589106"/>
                </a:lnTo>
                <a:lnTo>
                  <a:pt x="0" y="10589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015"/>
            </a:stretch>
          </a:blipFill>
          <a:ln w="19050" cap="sq">
            <a:solidFill>
              <a:srgbClr val="000000">
                <a:alpha val="7843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919391" y="260802"/>
            <a:ext cx="1920244" cy="820386"/>
          </a:xfrm>
          <a:custGeom>
            <a:avLst/>
            <a:gdLst/>
            <a:ahLst/>
            <a:cxnLst/>
            <a:rect l="l" t="t" r="r" b="b"/>
            <a:pathLst>
              <a:path w="1920244" h="820386">
                <a:moveTo>
                  <a:pt x="0" y="0"/>
                </a:moveTo>
                <a:lnTo>
                  <a:pt x="1920244" y="0"/>
                </a:lnTo>
                <a:lnTo>
                  <a:pt x="1920244" y="820386"/>
                </a:lnTo>
                <a:lnTo>
                  <a:pt x="0" y="8203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831147" y="2393838"/>
            <a:ext cx="11773136" cy="3512079"/>
            <a:chOff x="0" y="0"/>
            <a:chExt cx="2754540" cy="8217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54540" cy="821715"/>
            </a:xfrm>
            <a:custGeom>
              <a:avLst/>
              <a:gdLst/>
              <a:ahLst/>
              <a:cxnLst/>
              <a:rect l="l" t="t" r="r" b="b"/>
              <a:pathLst>
                <a:path w="2754540" h="821715">
                  <a:moveTo>
                    <a:pt x="0" y="0"/>
                  </a:moveTo>
                  <a:lnTo>
                    <a:pt x="2754540" y="0"/>
                  </a:lnTo>
                  <a:lnTo>
                    <a:pt x="2754540" y="821715"/>
                  </a:lnTo>
                  <a:lnTo>
                    <a:pt x="0" y="821715"/>
                  </a:lnTo>
                  <a:close/>
                </a:path>
              </a:pathLst>
            </a:custGeom>
            <a:solidFill>
              <a:srgbClr val="FFFFFF">
                <a:alpha val="8588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754540" cy="850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2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31147" y="6315492"/>
            <a:ext cx="8332812" cy="1834015"/>
            <a:chOff x="0" y="0"/>
            <a:chExt cx="1949613" cy="42910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9613" cy="429101"/>
            </a:xfrm>
            <a:custGeom>
              <a:avLst/>
              <a:gdLst/>
              <a:ahLst/>
              <a:cxnLst/>
              <a:rect l="l" t="t" r="r" b="b"/>
              <a:pathLst>
                <a:path w="1949613" h="429101">
                  <a:moveTo>
                    <a:pt x="0" y="0"/>
                  </a:moveTo>
                  <a:lnTo>
                    <a:pt x="1949613" y="0"/>
                  </a:lnTo>
                  <a:lnTo>
                    <a:pt x="1949613" y="429101"/>
                  </a:lnTo>
                  <a:lnTo>
                    <a:pt x="0" y="429101"/>
                  </a:lnTo>
                  <a:close/>
                </a:path>
              </a:pathLst>
            </a:custGeom>
            <a:solidFill>
              <a:srgbClr val="FFFFFF">
                <a:alpha val="8588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949613" cy="4576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2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06148" y="3263002"/>
            <a:ext cx="9757634" cy="719625"/>
          </a:xfrm>
          <a:custGeom>
            <a:avLst/>
            <a:gdLst/>
            <a:ahLst/>
            <a:cxnLst/>
            <a:rect l="l" t="t" r="r" b="b"/>
            <a:pathLst>
              <a:path w="9757634" h="719625">
                <a:moveTo>
                  <a:pt x="0" y="0"/>
                </a:moveTo>
                <a:lnTo>
                  <a:pt x="9757634" y="0"/>
                </a:lnTo>
                <a:lnTo>
                  <a:pt x="9757634" y="719626"/>
                </a:lnTo>
                <a:lnTo>
                  <a:pt x="0" y="7196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406148" y="4147790"/>
            <a:ext cx="10130558" cy="468538"/>
          </a:xfrm>
          <a:custGeom>
            <a:avLst/>
            <a:gdLst/>
            <a:ahLst/>
            <a:cxnLst/>
            <a:rect l="l" t="t" r="r" b="b"/>
            <a:pathLst>
              <a:path w="10130558" h="468538">
                <a:moveTo>
                  <a:pt x="0" y="0"/>
                </a:moveTo>
                <a:lnTo>
                  <a:pt x="10130558" y="0"/>
                </a:lnTo>
                <a:lnTo>
                  <a:pt x="10130558" y="468538"/>
                </a:lnTo>
                <a:lnTo>
                  <a:pt x="0" y="4685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406148" y="4808696"/>
            <a:ext cx="7995330" cy="669609"/>
          </a:xfrm>
          <a:custGeom>
            <a:avLst/>
            <a:gdLst/>
            <a:ahLst/>
            <a:cxnLst/>
            <a:rect l="l" t="t" r="r" b="b"/>
            <a:pathLst>
              <a:path w="7995330" h="669609">
                <a:moveTo>
                  <a:pt x="0" y="0"/>
                </a:moveTo>
                <a:lnTo>
                  <a:pt x="7995330" y="0"/>
                </a:lnTo>
                <a:lnTo>
                  <a:pt x="7995330" y="669608"/>
                </a:lnTo>
                <a:lnTo>
                  <a:pt x="0" y="6696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107002" y="7067967"/>
            <a:ext cx="7564141" cy="860421"/>
          </a:xfrm>
          <a:custGeom>
            <a:avLst/>
            <a:gdLst/>
            <a:ahLst/>
            <a:cxnLst/>
            <a:rect l="l" t="t" r="r" b="b"/>
            <a:pathLst>
              <a:path w="7564141" h="860421">
                <a:moveTo>
                  <a:pt x="0" y="0"/>
                </a:moveTo>
                <a:lnTo>
                  <a:pt x="7564142" y="0"/>
                </a:lnTo>
                <a:lnTo>
                  <a:pt x="7564142" y="860421"/>
                </a:lnTo>
                <a:lnTo>
                  <a:pt x="0" y="8604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9491407" y="6332825"/>
            <a:ext cx="7767893" cy="1816682"/>
            <a:chOff x="0" y="0"/>
            <a:chExt cx="1817440" cy="42504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17440" cy="425046"/>
            </a:xfrm>
            <a:custGeom>
              <a:avLst/>
              <a:gdLst/>
              <a:ahLst/>
              <a:cxnLst/>
              <a:rect l="l" t="t" r="r" b="b"/>
              <a:pathLst>
                <a:path w="1817440" h="425046">
                  <a:moveTo>
                    <a:pt x="0" y="0"/>
                  </a:moveTo>
                  <a:lnTo>
                    <a:pt x="1817440" y="0"/>
                  </a:lnTo>
                  <a:lnTo>
                    <a:pt x="1817440" y="425046"/>
                  </a:lnTo>
                  <a:lnTo>
                    <a:pt x="0" y="425046"/>
                  </a:lnTo>
                  <a:close/>
                </a:path>
              </a:pathLst>
            </a:custGeom>
            <a:solidFill>
              <a:srgbClr val="FFFFFF">
                <a:alpha val="8588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817440" cy="453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2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0262542" y="7083665"/>
            <a:ext cx="6143445" cy="844724"/>
          </a:xfrm>
          <a:custGeom>
            <a:avLst/>
            <a:gdLst/>
            <a:ahLst/>
            <a:cxnLst/>
            <a:rect l="l" t="t" r="r" b="b"/>
            <a:pathLst>
              <a:path w="6143445" h="844724">
                <a:moveTo>
                  <a:pt x="0" y="0"/>
                </a:moveTo>
                <a:lnTo>
                  <a:pt x="6143445" y="0"/>
                </a:lnTo>
                <a:lnTo>
                  <a:pt x="6143445" y="844723"/>
                </a:lnTo>
                <a:lnTo>
                  <a:pt x="0" y="84472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831147" y="223320"/>
            <a:ext cx="3865708" cy="1756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27"/>
              </a:lnSpc>
            </a:pPr>
            <a:r>
              <a:rPr lang="en-US" sz="8590" b="1">
                <a:solidFill>
                  <a:srgbClr val="FFFFFF"/>
                </a:solidFill>
                <a:latin typeface="Kitchakan Bold"/>
                <a:ea typeface="Kitchakan Bold"/>
                <a:cs typeface="Kitchakan Bold"/>
                <a:sym typeface="Kitchakan Bold"/>
              </a:rPr>
              <a:t>SYSTEM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911060" y="223320"/>
            <a:ext cx="5320916" cy="1756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27"/>
              </a:lnSpc>
            </a:pPr>
            <a:r>
              <a:rPr lang="en-US" sz="8590">
                <a:solidFill>
                  <a:srgbClr val="FFFFFF"/>
                </a:solidFill>
                <a:latin typeface="Kitchakan"/>
                <a:ea typeface="Kitchakan"/>
                <a:cs typeface="Kitchakan"/>
                <a:sym typeface="Kitchakan"/>
              </a:rPr>
              <a:t>MODEL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04880" y="2486956"/>
            <a:ext cx="4198933" cy="495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1"/>
              </a:lnSpc>
            </a:pPr>
            <a:r>
              <a:rPr lang="en-US" sz="2993" b="1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STATE DEFINITION: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7002" y="6558972"/>
            <a:ext cx="5873814" cy="1299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EVENTS:</a:t>
            </a:r>
          </a:p>
          <a:p>
            <a:pPr algn="l">
              <a:lnSpc>
                <a:spcPts val="3452"/>
              </a:lnSpc>
            </a:pPr>
            <a:endParaRPr lang="en-US" sz="2466" b="1">
              <a:solidFill>
                <a:srgbClr val="000000"/>
              </a:solidFill>
              <a:latin typeface="IBM Plex Mono Bold"/>
              <a:ea typeface="IBM Plex Mono Bold"/>
              <a:cs typeface="IBM Plex Mono Bold"/>
              <a:sym typeface="IBM Plex Mono Bold"/>
            </a:endParaRPr>
          </a:p>
          <a:p>
            <a:pPr algn="l">
              <a:lnSpc>
                <a:spcPts val="3452"/>
              </a:lnSpc>
            </a:pPr>
            <a:endParaRPr lang="en-US" sz="2466" b="1">
              <a:solidFill>
                <a:srgbClr val="000000"/>
              </a:solidFill>
              <a:latin typeface="IBM Plex Mono Bold"/>
              <a:ea typeface="IBM Plex Mono Bold"/>
              <a:cs typeface="IBM Plex Mono Bold"/>
              <a:sym typeface="IBM Plex Mono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7757966" y="9642206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646591" y="6371218"/>
            <a:ext cx="7806154" cy="423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ESTIMATED PARAMETERS </a:t>
            </a:r>
            <a:r>
              <a:rPr lang="en-US" sz="2466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(RATES IN CUST/MIN)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383493" y="0"/>
            <a:ext cx="10589106" cy="10589106"/>
          </a:xfrm>
          <a:custGeom>
            <a:avLst/>
            <a:gdLst/>
            <a:ahLst/>
            <a:cxnLst/>
            <a:rect l="l" t="t" r="r" b="b"/>
            <a:pathLst>
              <a:path w="10589106" h="10589106">
                <a:moveTo>
                  <a:pt x="0" y="0"/>
                </a:moveTo>
                <a:lnTo>
                  <a:pt x="10589106" y="0"/>
                </a:lnTo>
                <a:lnTo>
                  <a:pt x="10589106" y="10589106"/>
                </a:lnTo>
                <a:lnTo>
                  <a:pt x="0" y="10589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205613" y="0"/>
            <a:ext cx="10379890" cy="10589106"/>
          </a:xfrm>
          <a:custGeom>
            <a:avLst/>
            <a:gdLst/>
            <a:ahLst/>
            <a:cxnLst/>
            <a:rect l="l" t="t" r="r" b="b"/>
            <a:pathLst>
              <a:path w="10379890" h="10589106">
                <a:moveTo>
                  <a:pt x="0" y="0"/>
                </a:moveTo>
                <a:lnTo>
                  <a:pt x="10379890" y="0"/>
                </a:lnTo>
                <a:lnTo>
                  <a:pt x="10379890" y="10589106"/>
                </a:lnTo>
                <a:lnTo>
                  <a:pt x="0" y="10589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015"/>
            </a:stretch>
          </a:blipFill>
          <a:ln w="9525" cap="sq">
            <a:solidFill>
              <a:srgbClr val="000000">
                <a:alpha val="7843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919391" y="260802"/>
            <a:ext cx="1920244" cy="820386"/>
          </a:xfrm>
          <a:custGeom>
            <a:avLst/>
            <a:gdLst/>
            <a:ahLst/>
            <a:cxnLst/>
            <a:rect l="l" t="t" r="r" b="b"/>
            <a:pathLst>
              <a:path w="1920244" h="820386">
                <a:moveTo>
                  <a:pt x="0" y="0"/>
                </a:moveTo>
                <a:lnTo>
                  <a:pt x="1920244" y="0"/>
                </a:lnTo>
                <a:lnTo>
                  <a:pt x="1920244" y="820386"/>
                </a:lnTo>
                <a:lnTo>
                  <a:pt x="0" y="8203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605344" y="2196638"/>
            <a:ext cx="10234291" cy="7192297"/>
          </a:xfrm>
          <a:custGeom>
            <a:avLst/>
            <a:gdLst/>
            <a:ahLst/>
            <a:cxnLst/>
            <a:rect l="l" t="t" r="r" b="b"/>
            <a:pathLst>
              <a:path w="10234291" h="7192297">
                <a:moveTo>
                  <a:pt x="0" y="0"/>
                </a:moveTo>
                <a:lnTo>
                  <a:pt x="10234291" y="0"/>
                </a:lnTo>
                <a:lnTo>
                  <a:pt x="10234291" y="7192297"/>
                </a:lnTo>
                <a:lnTo>
                  <a:pt x="0" y="71922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99365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31147" y="223320"/>
            <a:ext cx="3865708" cy="1756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27"/>
              </a:lnSpc>
            </a:pPr>
            <a:r>
              <a:rPr lang="en-US" sz="8590" b="1">
                <a:solidFill>
                  <a:srgbClr val="FFFFFF"/>
                </a:solidFill>
                <a:latin typeface="Kitchakan Bold"/>
                <a:ea typeface="Kitchakan Bold"/>
                <a:cs typeface="Kitchakan Bold"/>
                <a:sym typeface="Kitchakan Bold"/>
              </a:rPr>
              <a:t>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11060" y="223320"/>
            <a:ext cx="5320916" cy="1756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27"/>
              </a:lnSpc>
            </a:pPr>
            <a:r>
              <a:rPr lang="en-US" sz="8590">
                <a:solidFill>
                  <a:srgbClr val="FFFFFF"/>
                </a:solidFill>
                <a:latin typeface="Kitchakan"/>
                <a:ea typeface="Kitchakan"/>
                <a:cs typeface="Kitchakan"/>
                <a:sym typeface="Kitchakan"/>
              </a:rPr>
              <a:t>PROBLEMS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8785" y="2438248"/>
            <a:ext cx="6581620" cy="1737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BASELINE PERFORMANCE</a:t>
            </a:r>
          </a:p>
          <a:p>
            <a:pPr algn="l">
              <a:lnSpc>
                <a:spcPts val="3452"/>
              </a:lnSpc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1-2: MEAN SYS TIME ~ 5-7 MIN.</a:t>
            </a:r>
          </a:p>
          <a:p>
            <a:pPr algn="l">
              <a:lnSpc>
                <a:spcPts val="3452"/>
              </a:lnSpc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OBSERVED, SIMULATION, AND ANALYTIC </a:t>
            </a:r>
            <a:r>
              <a:rPr lang="en-US" sz="2466" b="1">
                <a:solidFill>
                  <a:srgbClr val="FFDE5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RESULTS ALIGN</a:t>
            </a: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785" y="4979483"/>
            <a:ext cx="6581620" cy="217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PEAK DEMAND (DAY 3)</a:t>
            </a:r>
          </a:p>
          <a:p>
            <a:pPr algn="l">
              <a:lnSpc>
                <a:spcPts val="3452"/>
              </a:lnSpc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ARRIVAL RATE ~ 48.5 C/H. QUEUING DELAY INCREASES SHARPLY. </a:t>
            </a:r>
          </a:p>
          <a:p>
            <a:pPr algn="l">
              <a:lnSpc>
                <a:spcPts val="3452"/>
              </a:lnSpc>
            </a:pPr>
            <a:endParaRPr lang="en-US" sz="2466">
              <a:solidFill>
                <a:srgbClr val="FFFFFF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algn="l">
              <a:lnSpc>
                <a:spcPts val="3452"/>
              </a:lnSpc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MEAN SYS TIME </a:t>
            </a:r>
            <a:r>
              <a:rPr lang="en-US" sz="2466" b="1">
                <a:solidFill>
                  <a:srgbClr val="FFDE5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↑30 MIN</a:t>
            </a: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 (MODEL).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785" y="7958868"/>
            <a:ext cx="6581620" cy="1299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KEY INSIGHT</a:t>
            </a:r>
          </a:p>
          <a:p>
            <a:pPr algn="l">
              <a:lnSpc>
                <a:spcPts val="3452"/>
              </a:lnSpc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AS UTILIZATION → 1</a:t>
            </a:r>
          </a:p>
          <a:p>
            <a:pPr algn="l">
              <a:lnSpc>
                <a:spcPts val="3452"/>
              </a:lnSpc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WAITING TIME </a:t>
            </a:r>
            <a:r>
              <a:rPr lang="en-US" sz="2466" b="1">
                <a:solidFill>
                  <a:srgbClr val="FFDE5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INCREASES SHARPLY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714322" y="9761249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383493" y="0"/>
            <a:ext cx="10589106" cy="10589106"/>
          </a:xfrm>
          <a:custGeom>
            <a:avLst/>
            <a:gdLst/>
            <a:ahLst/>
            <a:cxnLst/>
            <a:rect l="l" t="t" r="r" b="b"/>
            <a:pathLst>
              <a:path w="10589106" h="10589106">
                <a:moveTo>
                  <a:pt x="0" y="0"/>
                </a:moveTo>
                <a:lnTo>
                  <a:pt x="10589106" y="0"/>
                </a:lnTo>
                <a:lnTo>
                  <a:pt x="10589106" y="10589106"/>
                </a:lnTo>
                <a:lnTo>
                  <a:pt x="0" y="10589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205613" y="0"/>
            <a:ext cx="10379890" cy="10589106"/>
          </a:xfrm>
          <a:custGeom>
            <a:avLst/>
            <a:gdLst/>
            <a:ahLst/>
            <a:cxnLst/>
            <a:rect l="l" t="t" r="r" b="b"/>
            <a:pathLst>
              <a:path w="10379890" h="10589106">
                <a:moveTo>
                  <a:pt x="0" y="0"/>
                </a:moveTo>
                <a:lnTo>
                  <a:pt x="10379890" y="0"/>
                </a:lnTo>
                <a:lnTo>
                  <a:pt x="10379890" y="10589106"/>
                </a:lnTo>
                <a:lnTo>
                  <a:pt x="0" y="10589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0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919391" y="260802"/>
            <a:ext cx="1920244" cy="820386"/>
          </a:xfrm>
          <a:custGeom>
            <a:avLst/>
            <a:gdLst/>
            <a:ahLst/>
            <a:cxnLst/>
            <a:rect l="l" t="t" r="r" b="b"/>
            <a:pathLst>
              <a:path w="1920244" h="820386">
                <a:moveTo>
                  <a:pt x="0" y="0"/>
                </a:moveTo>
                <a:lnTo>
                  <a:pt x="1920244" y="0"/>
                </a:lnTo>
                <a:lnTo>
                  <a:pt x="1920244" y="820386"/>
                </a:lnTo>
                <a:lnTo>
                  <a:pt x="0" y="8203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31147" y="2384292"/>
            <a:ext cx="10234291" cy="7192297"/>
          </a:xfrm>
          <a:custGeom>
            <a:avLst/>
            <a:gdLst/>
            <a:ahLst/>
            <a:cxnLst/>
            <a:rect l="l" t="t" r="r" b="b"/>
            <a:pathLst>
              <a:path w="10234291" h="7192297">
                <a:moveTo>
                  <a:pt x="0" y="0"/>
                </a:moveTo>
                <a:lnTo>
                  <a:pt x="10234291" y="0"/>
                </a:lnTo>
                <a:lnTo>
                  <a:pt x="10234291" y="7192297"/>
                </a:lnTo>
                <a:lnTo>
                  <a:pt x="0" y="71922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9365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31147" y="223320"/>
            <a:ext cx="3865708" cy="1756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27"/>
              </a:lnSpc>
            </a:pPr>
            <a:r>
              <a:rPr lang="en-US" sz="8590" b="1">
                <a:solidFill>
                  <a:srgbClr val="FFFFFF"/>
                </a:solidFill>
                <a:latin typeface="Kitchakan Bold"/>
                <a:ea typeface="Kitchakan Bold"/>
                <a:cs typeface="Kitchakan Bold"/>
                <a:sym typeface="Kitchakan Bold"/>
              </a:rPr>
              <a:t>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11060" y="223320"/>
            <a:ext cx="5320916" cy="1756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27"/>
              </a:lnSpc>
            </a:pPr>
            <a:r>
              <a:rPr lang="en-US" sz="8590">
                <a:solidFill>
                  <a:srgbClr val="FFFFFF"/>
                </a:solidFill>
                <a:latin typeface="Kitchakan"/>
                <a:ea typeface="Kitchakan"/>
                <a:cs typeface="Kitchakan"/>
                <a:sym typeface="Kitchakan"/>
              </a:rPr>
              <a:t>BOTTLENECK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47485" y="2438248"/>
            <a:ext cx="6243851" cy="1737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UTILIZATION BY STAGE</a:t>
            </a:r>
          </a:p>
          <a:p>
            <a:pPr algn="l">
              <a:lnSpc>
                <a:spcPts val="3452"/>
              </a:lnSpc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S1: </a:t>
            </a:r>
            <a:r>
              <a:rPr lang="en-US" sz="2466" b="1">
                <a:solidFill>
                  <a:srgbClr val="FFDE5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HIGHEST UTILIZATION</a:t>
            </a: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 ACROSS ALL DAYS.</a:t>
            </a:r>
          </a:p>
          <a:p>
            <a:pPr algn="l">
              <a:lnSpc>
                <a:spcPts val="3452"/>
              </a:lnSpc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S2, S3 CONSISTENTLY LOWER LOAD.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47485" y="5198558"/>
            <a:ext cx="6243851" cy="1737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PEAK LOAD (DAY 3)</a:t>
            </a:r>
          </a:p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FDE5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RHO1 ~ 0.95</a:t>
            </a: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, </a:t>
            </a:r>
          </a:p>
          <a:p>
            <a:pPr algn="l">
              <a:lnSpc>
                <a:spcPts val="3452"/>
              </a:lnSpc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RHO2 ~ 0.36, </a:t>
            </a:r>
          </a:p>
          <a:p>
            <a:pPr algn="l">
              <a:lnSpc>
                <a:spcPts val="3452"/>
              </a:lnSpc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RHO3 ~ 0.61.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47485" y="7958868"/>
            <a:ext cx="6243851" cy="1299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BOTTLENECK</a:t>
            </a:r>
          </a:p>
          <a:p>
            <a:pPr algn="l">
              <a:lnSpc>
                <a:spcPts val="3452"/>
              </a:lnSpc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SERVER 1 LIMITS SYS THROUGHPUT</a:t>
            </a:r>
          </a:p>
          <a:p>
            <a:pPr algn="l">
              <a:lnSpc>
                <a:spcPts val="3452"/>
              </a:lnSpc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QUEUE BUILDUP </a:t>
            </a:r>
            <a:r>
              <a:rPr lang="en-US" sz="2466" b="1">
                <a:solidFill>
                  <a:srgbClr val="FFDE5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ORIGINATES AT S1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686193" y="971660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383493" y="0"/>
            <a:ext cx="10589106" cy="10589106"/>
          </a:xfrm>
          <a:custGeom>
            <a:avLst/>
            <a:gdLst/>
            <a:ahLst/>
            <a:cxnLst/>
            <a:rect l="l" t="t" r="r" b="b"/>
            <a:pathLst>
              <a:path w="10589106" h="10589106">
                <a:moveTo>
                  <a:pt x="0" y="0"/>
                </a:moveTo>
                <a:lnTo>
                  <a:pt x="10589106" y="0"/>
                </a:lnTo>
                <a:lnTo>
                  <a:pt x="10589106" y="10589106"/>
                </a:lnTo>
                <a:lnTo>
                  <a:pt x="0" y="105891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w="9525" cap="sq">
            <a:solidFill>
              <a:srgbClr val="000000">
                <a:alpha val="7843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205613" y="0"/>
            <a:ext cx="10379890" cy="10589106"/>
          </a:xfrm>
          <a:custGeom>
            <a:avLst/>
            <a:gdLst/>
            <a:ahLst/>
            <a:cxnLst/>
            <a:rect l="l" t="t" r="r" b="b"/>
            <a:pathLst>
              <a:path w="10379890" h="10589106">
                <a:moveTo>
                  <a:pt x="0" y="0"/>
                </a:moveTo>
                <a:lnTo>
                  <a:pt x="10379890" y="0"/>
                </a:lnTo>
                <a:lnTo>
                  <a:pt x="10379890" y="10589106"/>
                </a:lnTo>
                <a:lnTo>
                  <a:pt x="0" y="105891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0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919391" y="260802"/>
            <a:ext cx="1920244" cy="820386"/>
          </a:xfrm>
          <a:custGeom>
            <a:avLst/>
            <a:gdLst/>
            <a:ahLst/>
            <a:cxnLst/>
            <a:rect l="l" t="t" r="r" b="b"/>
            <a:pathLst>
              <a:path w="1920244" h="820386">
                <a:moveTo>
                  <a:pt x="0" y="0"/>
                </a:moveTo>
                <a:lnTo>
                  <a:pt x="1920244" y="0"/>
                </a:lnTo>
                <a:lnTo>
                  <a:pt x="1920244" y="820386"/>
                </a:lnTo>
                <a:lnTo>
                  <a:pt x="0" y="8203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6" name="Picture 6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7410" end="231.667"/>
                </p14:media>
              </p:ext>
            </p:extLst>
          </p:nvPr>
        </p:nvPicPr>
        <p:blipFill>
          <a:blip r:embed="rId8"/>
          <a:srcRect l="17270" t="11957" r="14659"/>
          <a:stretch>
            <a:fillRect/>
          </a:stretch>
        </p:blipFill>
        <p:spPr>
          <a:xfrm>
            <a:off x="8481289" y="2249312"/>
            <a:ext cx="8778011" cy="7245549"/>
          </a:xfrm>
          <a:prstGeom prst="rect">
            <a:avLst/>
          </a:prstGeom>
          <a:ln w="19050" cap="sq">
            <a:solidFill>
              <a:srgbClr val="000000"/>
            </a:solidFill>
            <a:prstDash val="solid"/>
          </a:ln>
        </p:spPr>
      </p:pic>
      <p:sp>
        <p:nvSpPr>
          <p:cNvPr id="7" name="TextBox 7"/>
          <p:cNvSpPr txBox="1"/>
          <p:nvPr/>
        </p:nvSpPr>
        <p:spPr>
          <a:xfrm>
            <a:off x="831147" y="223320"/>
            <a:ext cx="3865708" cy="1756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27"/>
              </a:lnSpc>
            </a:pPr>
            <a:r>
              <a:rPr lang="en-US" sz="8590" b="1">
                <a:solidFill>
                  <a:srgbClr val="FFFFFF"/>
                </a:solidFill>
                <a:latin typeface="Kitchakan Bold"/>
                <a:ea typeface="Kitchakan Bold"/>
                <a:cs typeface="Kitchakan Bold"/>
                <a:sym typeface="Kitchakan Bold"/>
              </a:rPr>
              <a:t>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11060" y="223320"/>
            <a:ext cx="5320916" cy="1756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27"/>
              </a:lnSpc>
            </a:pPr>
            <a:r>
              <a:rPr lang="en-US" sz="8590">
                <a:solidFill>
                  <a:srgbClr val="FFFFFF"/>
                </a:solidFill>
                <a:latin typeface="Kitchakan"/>
                <a:ea typeface="Kitchakan"/>
                <a:cs typeface="Kitchakan"/>
                <a:sym typeface="Kitchakan"/>
              </a:rPr>
              <a:t>IMPROVEMENT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8785" y="2706661"/>
            <a:ext cx="6581620" cy="1299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CHANGE</a:t>
            </a:r>
          </a:p>
          <a:p>
            <a:pPr algn="l">
              <a:lnSpc>
                <a:spcPts val="3452"/>
              </a:lnSpc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ADD ONE PARALLEL SERVER AT STAGE 1</a:t>
            </a:r>
          </a:p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FDE5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S1: M/M/1 → M/M/2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785" y="4894615"/>
            <a:ext cx="6581620" cy="1737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RATIONALE</a:t>
            </a:r>
          </a:p>
          <a:p>
            <a:pPr algn="l">
              <a:lnSpc>
                <a:spcPts val="3452"/>
              </a:lnSpc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TARGETS </a:t>
            </a:r>
            <a:r>
              <a:rPr lang="en-US" sz="2466" b="1">
                <a:solidFill>
                  <a:srgbClr val="FFDE5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IDENTIFIED BOTTLENECK</a:t>
            </a: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 (S1)</a:t>
            </a:r>
          </a:p>
          <a:p>
            <a:pPr algn="l">
              <a:lnSpc>
                <a:spcPts val="3452"/>
              </a:lnSpc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REDUCES UTILIZATION AND QUEUE BUILDUP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785" y="7520718"/>
            <a:ext cx="6581620" cy="1737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EXPECTED EFFECT?</a:t>
            </a:r>
          </a:p>
          <a:p>
            <a:pPr algn="l">
              <a:lnSpc>
                <a:spcPts val="3452"/>
              </a:lnSpc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LOWER WAITING TIME</a:t>
            </a:r>
          </a:p>
          <a:p>
            <a:pPr algn="l">
              <a:lnSpc>
                <a:spcPts val="3452"/>
              </a:lnSpc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IMPROVED SYSTEM </a:t>
            </a:r>
            <a:r>
              <a:rPr lang="en-US" sz="2466" b="1">
                <a:solidFill>
                  <a:srgbClr val="FFDE5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STABILITY</a:t>
            </a: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 DURING HIGH DEMAND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758003" y="965708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383493" y="0"/>
            <a:ext cx="10589106" cy="10589106"/>
          </a:xfrm>
          <a:custGeom>
            <a:avLst/>
            <a:gdLst/>
            <a:ahLst/>
            <a:cxnLst/>
            <a:rect l="l" t="t" r="r" b="b"/>
            <a:pathLst>
              <a:path w="10589106" h="10589106">
                <a:moveTo>
                  <a:pt x="0" y="0"/>
                </a:moveTo>
                <a:lnTo>
                  <a:pt x="10589106" y="0"/>
                </a:lnTo>
                <a:lnTo>
                  <a:pt x="10589106" y="10589106"/>
                </a:lnTo>
                <a:lnTo>
                  <a:pt x="0" y="10589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205613" y="0"/>
            <a:ext cx="10379890" cy="10589106"/>
          </a:xfrm>
          <a:custGeom>
            <a:avLst/>
            <a:gdLst/>
            <a:ahLst/>
            <a:cxnLst/>
            <a:rect l="l" t="t" r="r" b="b"/>
            <a:pathLst>
              <a:path w="10379890" h="10589106">
                <a:moveTo>
                  <a:pt x="0" y="0"/>
                </a:moveTo>
                <a:lnTo>
                  <a:pt x="10379890" y="0"/>
                </a:lnTo>
                <a:lnTo>
                  <a:pt x="10379890" y="10589106"/>
                </a:lnTo>
                <a:lnTo>
                  <a:pt x="0" y="10589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015"/>
            </a:stretch>
          </a:blipFill>
          <a:ln w="19050" cap="sq">
            <a:solidFill>
              <a:srgbClr val="000000">
                <a:alpha val="7843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919391" y="260802"/>
            <a:ext cx="1920244" cy="820386"/>
          </a:xfrm>
          <a:custGeom>
            <a:avLst/>
            <a:gdLst/>
            <a:ahLst/>
            <a:cxnLst/>
            <a:rect l="l" t="t" r="r" b="b"/>
            <a:pathLst>
              <a:path w="1920244" h="820386">
                <a:moveTo>
                  <a:pt x="0" y="0"/>
                </a:moveTo>
                <a:lnTo>
                  <a:pt x="1920244" y="0"/>
                </a:lnTo>
                <a:lnTo>
                  <a:pt x="1920244" y="820386"/>
                </a:lnTo>
                <a:lnTo>
                  <a:pt x="0" y="8203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831147" y="223320"/>
            <a:ext cx="3865708" cy="1756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27"/>
              </a:lnSpc>
            </a:pPr>
            <a:r>
              <a:rPr lang="en-US" sz="8590" b="1">
                <a:solidFill>
                  <a:srgbClr val="FFFFFF"/>
                </a:solidFill>
                <a:latin typeface="Kitchakan Bold"/>
                <a:ea typeface="Kitchakan Bold"/>
                <a:cs typeface="Kitchakan Bold"/>
                <a:sym typeface="Kitchakan Bold"/>
              </a:rPr>
              <a:t>SYSTEM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11060" y="223320"/>
            <a:ext cx="5320916" cy="1756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27"/>
              </a:lnSpc>
            </a:pPr>
            <a:r>
              <a:rPr lang="en-US" sz="8590">
                <a:solidFill>
                  <a:srgbClr val="FFFFFF"/>
                </a:solidFill>
                <a:latin typeface="Kitchakan"/>
                <a:ea typeface="Kitchakan"/>
                <a:cs typeface="Kitchakan"/>
                <a:sym typeface="Kitchakan"/>
              </a:rPr>
              <a:t>FIXED?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1147" y="2059259"/>
            <a:ext cx="8044749" cy="861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WAIT TIME REDUCED</a:t>
            </a:r>
          </a:p>
          <a:p>
            <a:pPr algn="l">
              <a:lnSpc>
                <a:spcPts val="3452"/>
              </a:lnSpc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D1: -41%, D2: -46%, </a:t>
            </a:r>
            <a:r>
              <a:rPr lang="en-US" sz="2466" b="1">
                <a:solidFill>
                  <a:srgbClr val="FFDE5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D3: -87%</a:t>
            </a: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, POOLED: -52%</a:t>
            </a:r>
          </a:p>
        </p:txBody>
      </p:sp>
      <p:sp>
        <p:nvSpPr>
          <p:cNvPr id="9" name="Freeform 9"/>
          <p:cNvSpPr/>
          <p:nvPr/>
        </p:nvSpPr>
        <p:spPr>
          <a:xfrm>
            <a:off x="831147" y="3690875"/>
            <a:ext cx="16607622" cy="5887764"/>
          </a:xfrm>
          <a:custGeom>
            <a:avLst/>
            <a:gdLst/>
            <a:ahLst/>
            <a:cxnLst/>
            <a:rect l="l" t="t" r="r" b="b"/>
            <a:pathLst>
              <a:path w="16607622" h="5887764">
                <a:moveTo>
                  <a:pt x="0" y="0"/>
                </a:moveTo>
                <a:lnTo>
                  <a:pt x="16607622" y="0"/>
                </a:lnTo>
                <a:lnTo>
                  <a:pt x="16607622" y="5887764"/>
                </a:lnTo>
                <a:lnTo>
                  <a:pt x="0" y="58877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" r="-555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9394020" y="2059259"/>
            <a:ext cx="8044749" cy="861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PEAK PERFORMANCE</a:t>
            </a:r>
          </a:p>
          <a:p>
            <a:pPr algn="l">
              <a:lnSpc>
                <a:spcPts val="3452"/>
              </a:lnSpc>
            </a:pPr>
            <a:r>
              <a:rPr lang="en-US" sz="246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MEAN SYS TIME: ~30 MIN → </a:t>
            </a:r>
            <a:r>
              <a:rPr lang="en-US" sz="2466" b="1">
                <a:solidFill>
                  <a:srgbClr val="FFDE5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~4 MIN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685226" y="965708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reeform 2">
            <a:extLst>
              <a:ext uri="{FF2B5EF4-FFF2-40B4-BE49-F238E27FC236}">
                <a16:creationId xmlns:a16="http://schemas.microsoft.com/office/drawing/2014/main" id="{5FBB485D-D709-BC59-66DD-78077AD8AC7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914400" y="96838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IMPROVEMENT IMPACT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914860" y="807932"/>
            <a:ext cx="1280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one line worker · 39.5 → 65 customers/hr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697314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· 39.5/hr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901184" y="395833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901184" y="500888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$4.05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901184" y="65735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$3.65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901184" y="83312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$4.36</a:t>
            </a:r>
            <a:endParaRPr lang="en-US" sz="1900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C4ED418-6D09-C6D3-2A0A-A85B74A65268}"/>
              </a:ext>
            </a:extLst>
          </p:cNvPr>
          <p:cNvGrpSpPr/>
          <p:nvPr/>
        </p:nvGrpSpPr>
        <p:grpSpPr>
          <a:xfrm>
            <a:off x="1106424" y="2236169"/>
            <a:ext cx="3474720" cy="7144238"/>
            <a:chOff x="713232" y="1051560"/>
            <a:chExt cx="1773936" cy="3657600"/>
          </a:xfrm>
        </p:grpSpPr>
        <p:sp>
          <p:nvSpPr>
            <p:cNvPr id="5" name="Shape 3"/>
            <p:cNvSpPr/>
            <p:nvPr/>
          </p:nvSpPr>
          <p:spPr>
            <a:xfrm>
              <a:off x="822960" y="1051560"/>
              <a:ext cx="1554480" cy="914400"/>
            </a:xfrm>
            <a:prstGeom prst="rect">
              <a:avLst/>
            </a:prstGeom>
            <a:solidFill>
              <a:srgbClr val="85B7EB">
                <a:alpha val="80000"/>
              </a:srgbClr>
            </a:solidFill>
            <a:ln w="6350">
              <a:solidFill>
                <a:srgbClr val="378ADD"/>
              </a:solidFill>
              <a:prstDash val="solid"/>
            </a:ln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6" name="Text 4"/>
            <p:cNvSpPr/>
            <p:nvPr/>
          </p:nvSpPr>
          <p:spPr>
            <a:xfrm>
              <a:off x="859536" y="1051560"/>
              <a:ext cx="1481328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5000"/>
                </a:lnSpc>
              </a:pPr>
              <a:r>
                <a:rPr lang="en-US" sz="2200" b="1" dirty="0">
                  <a:solidFill>
                    <a:srgbClr val="0C447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Consumer</a:t>
              </a:r>
              <a:endParaRPr lang="en-US" sz="2200" dirty="0"/>
            </a:p>
            <a:p>
              <a:pPr algn="ctr">
                <a:lnSpc>
                  <a:spcPct val="105000"/>
                </a:lnSpc>
              </a:pPr>
              <a:r>
                <a:rPr lang="en-US" sz="2200" b="1" dirty="0">
                  <a:solidFill>
                    <a:srgbClr val="0C447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surplus</a:t>
              </a:r>
              <a:endParaRPr lang="en-US" sz="22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822960" y="1965960"/>
              <a:ext cx="1554480" cy="227584"/>
            </a:xfrm>
            <a:prstGeom prst="rect">
              <a:avLst/>
            </a:prstGeom>
            <a:solidFill>
              <a:srgbClr val="5DCAA5">
                <a:alpha val="80000"/>
              </a:srgbClr>
            </a:solidFill>
            <a:ln w="6350">
              <a:solidFill>
                <a:srgbClr val="1D9E75"/>
              </a:solidFill>
              <a:prstDash val="solid"/>
            </a:ln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8" name="Text 6"/>
            <p:cNvSpPr/>
            <p:nvPr/>
          </p:nvSpPr>
          <p:spPr>
            <a:xfrm>
              <a:off x="859536" y="1965960"/>
              <a:ext cx="1481328" cy="2275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5000"/>
                </a:lnSpc>
              </a:pPr>
              <a:r>
                <a:rPr lang="en-US" b="1" dirty="0">
                  <a:solidFill>
                    <a:srgbClr val="0434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Profit 8%</a:t>
              </a:r>
              <a:endParaRPr lang="en-US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822960" y="2193544"/>
              <a:ext cx="1554480" cy="822960"/>
            </a:xfrm>
            <a:prstGeom prst="rect">
              <a:avLst/>
            </a:prstGeom>
            <a:solidFill>
              <a:srgbClr val="D85A30">
                <a:alpha val="80000"/>
              </a:srgbClr>
            </a:solidFill>
            <a:ln w="6350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11" name="Text 9"/>
            <p:cNvSpPr/>
            <p:nvPr/>
          </p:nvSpPr>
          <p:spPr>
            <a:xfrm>
              <a:off x="859536" y="2193544"/>
              <a:ext cx="1481328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5000"/>
                </a:lnSpc>
              </a:pPr>
              <a:r>
                <a:rPr lang="en-US" sz="2200" b="1" dirty="0">
                  <a:solidFill>
                    <a:srgbClr val="4A1B0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Food 30%</a:t>
              </a:r>
              <a:endParaRPr lang="en-US" sz="2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822960" y="3016504"/>
              <a:ext cx="1554480" cy="741680"/>
            </a:xfrm>
            <a:prstGeom prst="rect">
              <a:avLst/>
            </a:prstGeom>
            <a:solidFill>
              <a:srgbClr val="7F77DD">
                <a:alpha val="80000"/>
              </a:srgbClr>
            </a:solidFill>
            <a:ln w="6350">
              <a:solidFill>
                <a:srgbClr val="534AB7"/>
              </a:solidFill>
              <a:prstDash val="solid"/>
            </a:ln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14" name="Text 12"/>
            <p:cNvSpPr/>
            <p:nvPr/>
          </p:nvSpPr>
          <p:spPr>
            <a:xfrm>
              <a:off x="859536" y="3016504"/>
              <a:ext cx="1481328" cy="741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5000"/>
                </a:lnSpc>
              </a:pPr>
              <a:r>
                <a:rPr lang="en-US" sz="2200" b="1" dirty="0">
                  <a:solidFill>
                    <a:srgbClr val="2621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Labor 27%</a:t>
              </a:r>
              <a:endParaRPr lang="en-US" sz="22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822960" y="3758184"/>
              <a:ext cx="1554480" cy="65024"/>
            </a:xfrm>
            <a:prstGeom prst="rect">
              <a:avLst/>
            </a:prstGeom>
            <a:solidFill>
              <a:srgbClr val="1D9E75">
                <a:alpha val="80000"/>
              </a:srgbClr>
            </a:solidFill>
            <a:ln w="6350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17" name="Shape 15"/>
            <p:cNvSpPr/>
            <p:nvPr/>
          </p:nvSpPr>
          <p:spPr>
            <a:xfrm>
              <a:off x="822960" y="3823208"/>
              <a:ext cx="1554480" cy="885952"/>
            </a:xfrm>
            <a:prstGeom prst="rect">
              <a:avLst/>
            </a:prstGeom>
            <a:solidFill>
              <a:srgbClr val="888780">
                <a:alpha val="80000"/>
              </a:srgbClr>
            </a:solidFill>
            <a:ln w="6350">
              <a:solidFill>
                <a:srgbClr val="5F5E5A"/>
              </a:solidFill>
              <a:prstDash val="solid"/>
            </a:ln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18" name="Text 16"/>
            <p:cNvSpPr/>
            <p:nvPr/>
          </p:nvSpPr>
          <p:spPr>
            <a:xfrm>
              <a:off x="859536" y="3823208"/>
              <a:ext cx="1481328" cy="8859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5000"/>
                </a:lnSpc>
              </a:pPr>
              <a:r>
                <a:rPr lang="en-US" sz="2200" b="1" dirty="0">
                  <a:solidFill>
                    <a:srgbClr val="2C2C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Other 32%</a:t>
              </a:r>
              <a:endParaRPr lang="en-US" sz="22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713232" y="1965960"/>
              <a:ext cx="1773936" cy="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3600"/>
            </a:p>
          </p:txBody>
        </p:sp>
      </p:grpSp>
      <p:sp>
        <p:nvSpPr>
          <p:cNvPr id="21" name="Text 19"/>
          <p:cNvSpPr/>
          <p:nvPr/>
        </p:nvSpPr>
        <p:spPr>
          <a:xfrm>
            <a:off x="7680960" y="1570036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dirty="0">
                <a:solidFill>
                  <a:srgbClr val="5DCA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 · 65/hr +1 staff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1120898" y="420017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$2.41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11006264" y="556791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$4.05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11064240" y="685823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$2.48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11022778" y="828763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$4.36</a:t>
            </a:r>
            <a:endParaRPr lang="en-US" sz="1900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1F22B8F-CA6E-7686-786F-D0E06C201C8B}"/>
              </a:ext>
            </a:extLst>
          </p:cNvPr>
          <p:cNvGrpSpPr/>
          <p:nvPr/>
        </p:nvGrpSpPr>
        <p:grpSpPr>
          <a:xfrm>
            <a:off x="7403528" y="2121408"/>
            <a:ext cx="3547872" cy="7315200"/>
            <a:chOff x="4096512" y="1051560"/>
            <a:chExt cx="1773936" cy="3657600"/>
          </a:xfrm>
        </p:grpSpPr>
        <p:sp>
          <p:nvSpPr>
            <p:cNvPr id="22" name="Shape 20"/>
            <p:cNvSpPr/>
            <p:nvPr/>
          </p:nvSpPr>
          <p:spPr>
            <a:xfrm>
              <a:off x="4206240" y="1051560"/>
              <a:ext cx="1554480" cy="914400"/>
            </a:xfrm>
            <a:prstGeom prst="rect">
              <a:avLst/>
            </a:prstGeom>
            <a:solidFill>
              <a:srgbClr val="85B7EB">
                <a:alpha val="80000"/>
              </a:srgbClr>
            </a:solidFill>
            <a:ln w="6350">
              <a:solidFill>
                <a:srgbClr val="378ADD"/>
              </a:solidFill>
              <a:prstDash val="solid"/>
            </a:ln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23" name="Text 21"/>
            <p:cNvSpPr/>
            <p:nvPr/>
          </p:nvSpPr>
          <p:spPr>
            <a:xfrm>
              <a:off x="4242816" y="1051560"/>
              <a:ext cx="1481328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5000"/>
                </a:lnSpc>
              </a:pPr>
              <a:r>
                <a:rPr lang="en-US" sz="2200" b="1" dirty="0">
                  <a:solidFill>
                    <a:srgbClr val="0C447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Consumer</a:t>
              </a:r>
              <a:endParaRPr lang="en-US" sz="2200" dirty="0"/>
            </a:p>
            <a:p>
              <a:pPr algn="ctr">
                <a:lnSpc>
                  <a:spcPct val="105000"/>
                </a:lnSpc>
              </a:pPr>
              <a:r>
                <a:rPr lang="en-US" sz="2200" b="1" dirty="0">
                  <a:solidFill>
                    <a:srgbClr val="0C447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surplus</a:t>
              </a:r>
              <a:endParaRPr lang="en-US" sz="22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206240" y="1965960"/>
              <a:ext cx="1554480" cy="489712"/>
            </a:xfrm>
            <a:prstGeom prst="rect">
              <a:avLst/>
            </a:prstGeom>
            <a:solidFill>
              <a:srgbClr val="5DCAA5">
                <a:alpha val="80000"/>
              </a:srgbClr>
            </a:solidFill>
            <a:ln w="6350">
              <a:solidFill>
                <a:srgbClr val="1D9E75"/>
              </a:solidFill>
              <a:prstDash val="solid"/>
            </a:ln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25" name="Text 23"/>
            <p:cNvSpPr/>
            <p:nvPr/>
          </p:nvSpPr>
          <p:spPr>
            <a:xfrm>
              <a:off x="4242816" y="1965960"/>
              <a:ext cx="1481328" cy="4897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5000"/>
                </a:lnSpc>
              </a:pPr>
              <a:r>
                <a:rPr lang="en-US" sz="2200" b="1" dirty="0">
                  <a:solidFill>
                    <a:srgbClr val="0434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Profit 18%</a:t>
              </a:r>
              <a:endParaRPr lang="en-US" sz="22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4206240" y="2455672"/>
              <a:ext cx="1554480" cy="822960"/>
            </a:xfrm>
            <a:prstGeom prst="rect">
              <a:avLst/>
            </a:prstGeom>
            <a:solidFill>
              <a:srgbClr val="D85A30">
                <a:alpha val="80000"/>
              </a:srgbClr>
            </a:solidFill>
            <a:ln w="6350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28" name="Text 26"/>
            <p:cNvSpPr/>
            <p:nvPr/>
          </p:nvSpPr>
          <p:spPr>
            <a:xfrm>
              <a:off x="4242816" y="2455672"/>
              <a:ext cx="1481328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5000"/>
                </a:lnSpc>
              </a:pPr>
              <a:r>
                <a:rPr lang="en-US" sz="2200" b="1" dirty="0">
                  <a:solidFill>
                    <a:srgbClr val="4A1B0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Food 30%</a:t>
              </a:r>
              <a:endParaRPr lang="en-US" sz="22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4206240" y="3278632"/>
              <a:ext cx="1554480" cy="503936"/>
            </a:xfrm>
            <a:prstGeom prst="rect">
              <a:avLst/>
            </a:prstGeom>
            <a:solidFill>
              <a:srgbClr val="7F77DD">
                <a:alpha val="80000"/>
              </a:srgbClr>
            </a:solidFill>
            <a:ln w="6350">
              <a:solidFill>
                <a:srgbClr val="534AB7"/>
              </a:solidFill>
              <a:prstDash val="solid"/>
            </a:ln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31" name="Text 29"/>
            <p:cNvSpPr/>
            <p:nvPr/>
          </p:nvSpPr>
          <p:spPr>
            <a:xfrm>
              <a:off x="4242816" y="3278632"/>
              <a:ext cx="1481328" cy="503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5000"/>
                </a:lnSpc>
              </a:pPr>
              <a:r>
                <a:rPr lang="en-US" sz="2200" b="1" dirty="0">
                  <a:solidFill>
                    <a:srgbClr val="2621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Labor 18%</a:t>
              </a:r>
              <a:endParaRPr lang="en-US" sz="22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4206240" y="3782568"/>
              <a:ext cx="1554480" cy="40640"/>
            </a:xfrm>
            <a:prstGeom prst="rect">
              <a:avLst/>
            </a:prstGeom>
            <a:solidFill>
              <a:srgbClr val="1D9E75">
                <a:alpha val="80000"/>
              </a:srgbClr>
            </a:solidFill>
            <a:ln w="6350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34" name="Shape 32"/>
            <p:cNvSpPr/>
            <p:nvPr/>
          </p:nvSpPr>
          <p:spPr>
            <a:xfrm>
              <a:off x="4206240" y="3823208"/>
              <a:ext cx="1554480" cy="885952"/>
            </a:xfrm>
            <a:prstGeom prst="rect">
              <a:avLst/>
            </a:prstGeom>
            <a:solidFill>
              <a:srgbClr val="888780">
                <a:alpha val="80000"/>
              </a:srgbClr>
            </a:solidFill>
            <a:ln w="6350">
              <a:solidFill>
                <a:srgbClr val="5F5E5A"/>
              </a:solidFill>
              <a:prstDash val="solid"/>
            </a:ln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35" name="Text 33"/>
            <p:cNvSpPr/>
            <p:nvPr/>
          </p:nvSpPr>
          <p:spPr>
            <a:xfrm>
              <a:off x="4242816" y="3823208"/>
              <a:ext cx="1481328" cy="8859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5000"/>
                </a:lnSpc>
              </a:pPr>
              <a:r>
                <a:rPr lang="en-US" sz="2200" b="1" dirty="0">
                  <a:solidFill>
                    <a:srgbClr val="2C2C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Other 32%</a:t>
              </a:r>
              <a:endParaRPr lang="en-US" sz="22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4096512" y="1965960"/>
              <a:ext cx="1773936" cy="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3600"/>
            </a:p>
          </p:txBody>
        </p:sp>
      </p:grpSp>
      <p:sp>
        <p:nvSpPr>
          <p:cNvPr id="38" name="Shape 36"/>
          <p:cNvSpPr/>
          <p:nvPr/>
        </p:nvSpPr>
        <p:spPr>
          <a:xfrm>
            <a:off x="5852160" y="4204630"/>
            <a:ext cx="1463040" cy="262128"/>
          </a:xfrm>
          <a:prstGeom prst="line">
            <a:avLst/>
          </a:prstGeom>
          <a:noFill/>
          <a:ln w="38100">
            <a:solidFill>
              <a:srgbClr val="5DCAA5"/>
            </a:solidFill>
            <a:prstDash val="solid"/>
            <a:tailEnd type="triangle"/>
          </a:ln>
        </p:spPr>
        <p:txBody>
          <a:bodyPr/>
          <a:lstStyle/>
          <a:p>
            <a:endParaRPr lang="en-US" sz="3600"/>
          </a:p>
        </p:txBody>
      </p:sp>
      <p:sp>
        <p:nvSpPr>
          <p:cNvPr id="39" name="Text 37"/>
          <p:cNvSpPr/>
          <p:nvPr/>
        </p:nvSpPr>
        <p:spPr>
          <a:xfrm>
            <a:off x="5757608" y="326847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i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2000" dirty="0"/>
          </a:p>
          <a:p>
            <a:pPr algn="ctr">
              <a:lnSpc>
                <a:spcPct val="110000"/>
              </a:lnSpc>
            </a:pPr>
            <a:r>
              <a:rPr lang="en-US" sz="2000" i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12801600" y="1828800"/>
            <a:ext cx="5212080" cy="3200400"/>
          </a:xfrm>
          <a:prstGeom prst="rect">
            <a:avLst/>
          </a:prstGeom>
          <a:solidFill>
            <a:srgbClr val="000000">
              <a:alpha val="65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1" name="Text 39"/>
          <p:cNvSpPr/>
          <p:nvPr/>
        </p:nvSpPr>
        <p:spPr>
          <a:xfrm>
            <a:off x="13075920" y="1975104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Hourly revenue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12984480" y="2560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00" dirty="0">
                <a:solidFill>
                  <a:srgbClr val="AAAAA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$533</a:t>
            </a:r>
            <a:endParaRPr lang="en-US" sz="5600" dirty="0"/>
          </a:p>
        </p:txBody>
      </p:sp>
      <p:sp>
        <p:nvSpPr>
          <p:cNvPr id="43" name="Text 41"/>
          <p:cNvSpPr/>
          <p:nvPr/>
        </p:nvSpPr>
        <p:spPr>
          <a:xfrm>
            <a:off x="1508760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44" name="Text 42"/>
          <p:cNvSpPr/>
          <p:nvPr/>
        </p:nvSpPr>
        <p:spPr>
          <a:xfrm>
            <a:off x="1572768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00" dirty="0">
                <a:solidFill>
                  <a:srgbClr val="5DCAA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$878</a:t>
            </a:r>
            <a:endParaRPr lang="en-US" sz="5600" dirty="0"/>
          </a:p>
        </p:txBody>
      </p:sp>
      <p:sp>
        <p:nvSpPr>
          <p:cNvPr id="45" name="Text 43"/>
          <p:cNvSpPr/>
          <p:nvPr/>
        </p:nvSpPr>
        <p:spPr>
          <a:xfrm>
            <a:off x="13075920" y="36576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+$345/hr  (+65%)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13075920" y="429768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39.5 → 65 customers/hr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12801600" y="5394960"/>
            <a:ext cx="5212080" cy="3200400"/>
          </a:xfrm>
          <a:prstGeom prst="rect">
            <a:avLst/>
          </a:prstGeom>
          <a:solidFill>
            <a:srgbClr val="000000">
              <a:alpha val="65000"/>
            </a:srgbClr>
          </a:solidFill>
          <a:ln w="1524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8" name="Text 46"/>
          <p:cNvSpPr/>
          <p:nvPr/>
        </p:nvSpPr>
        <p:spPr>
          <a:xfrm>
            <a:off x="13075920" y="5541264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5DCA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Hourly profit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12984480" y="6126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00" dirty="0">
                <a:solidFill>
                  <a:srgbClr val="AAAAA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$44</a:t>
            </a:r>
            <a:endParaRPr lang="en-US" sz="5600" dirty="0"/>
          </a:p>
        </p:txBody>
      </p:sp>
      <p:sp>
        <p:nvSpPr>
          <p:cNvPr id="50" name="Text 48"/>
          <p:cNvSpPr/>
          <p:nvPr/>
        </p:nvSpPr>
        <p:spPr>
          <a:xfrm>
            <a:off x="15087600" y="6309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51" name="Text 49"/>
          <p:cNvSpPr/>
          <p:nvPr/>
        </p:nvSpPr>
        <p:spPr>
          <a:xfrm>
            <a:off x="15727680" y="6126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00" dirty="0">
                <a:solidFill>
                  <a:srgbClr val="5DCAA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$157</a:t>
            </a:r>
            <a:endParaRPr lang="en-US" sz="5600" dirty="0"/>
          </a:p>
        </p:txBody>
      </p:sp>
      <p:sp>
        <p:nvSpPr>
          <p:cNvPr id="52" name="Text 50"/>
          <p:cNvSpPr/>
          <p:nvPr/>
        </p:nvSpPr>
        <p:spPr>
          <a:xfrm>
            <a:off x="13075920" y="7223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+$113/hr  (+256%)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13075920" y="786384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labor: +$17/hr (12%)</a:t>
            </a:r>
            <a:endParaRPr lang="en-US" sz="2000" dirty="0"/>
          </a:p>
        </p:txBody>
      </p:sp>
      <p:sp>
        <p:nvSpPr>
          <p:cNvPr id="54" name="Shape 52"/>
          <p:cNvSpPr/>
          <p:nvPr/>
        </p:nvSpPr>
        <p:spPr>
          <a:xfrm>
            <a:off x="12801600" y="8961120"/>
            <a:ext cx="5212080" cy="914400"/>
          </a:xfrm>
          <a:prstGeom prst="rect">
            <a:avLst/>
          </a:prstGeom>
          <a:solidFill>
            <a:srgbClr val="5DCAA5">
              <a:alpha val="25000"/>
            </a:srgbClr>
          </a:solidFill>
          <a:ln w="635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55" name="Text 53"/>
          <p:cNvSpPr/>
          <p:nvPr/>
        </p:nvSpPr>
        <p:spPr>
          <a:xfrm>
            <a:off x="13075920" y="9089136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2-hr lunch: 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$88 → $314/day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297503" y="0"/>
            <a:ext cx="10589106" cy="10589106"/>
          </a:xfrm>
          <a:custGeom>
            <a:avLst/>
            <a:gdLst/>
            <a:ahLst/>
            <a:cxnLst/>
            <a:rect l="l" t="t" r="r" b="b"/>
            <a:pathLst>
              <a:path w="10589106" h="10589106">
                <a:moveTo>
                  <a:pt x="0" y="0"/>
                </a:moveTo>
                <a:lnTo>
                  <a:pt x="10589106" y="0"/>
                </a:lnTo>
                <a:lnTo>
                  <a:pt x="10589106" y="10589106"/>
                </a:lnTo>
                <a:lnTo>
                  <a:pt x="0" y="10589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444003" y="0"/>
            <a:ext cx="10379890" cy="10589106"/>
          </a:xfrm>
          <a:custGeom>
            <a:avLst/>
            <a:gdLst/>
            <a:ahLst/>
            <a:cxnLst/>
            <a:rect l="l" t="t" r="r" b="b"/>
            <a:pathLst>
              <a:path w="10379890" h="10589106">
                <a:moveTo>
                  <a:pt x="0" y="0"/>
                </a:moveTo>
                <a:lnTo>
                  <a:pt x="10379890" y="0"/>
                </a:lnTo>
                <a:lnTo>
                  <a:pt x="10379890" y="10589106"/>
                </a:lnTo>
                <a:lnTo>
                  <a:pt x="0" y="10589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0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28700" y="641227"/>
            <a:ext cx="513267" cy="461376"/>
          </a:xfrm>
          <a:custGeom>
            <a:avLst/>
            <a:gdLst/>
            <a:ahLst/>
            <a:cxnLst/>
            <a:rect l="l" t="t" r="r" b="b"/>
            <a:pathLst>
              <a:path w="513267" h="461376">
                <a:moveTo>
                  <a:pt x="0" y="0"/>
                </a:moveTo>
                <a:lnTo>
                  <a:pt x="513267" y="0"/>
                </a:lnTo>
                <a:lnTo>
                  <a:pt x="513267" y="461376"/>
                </a:lnTo>
                <a:lnTo>
                  <a:pt x="0" y="4613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8406834">
            <a:off x="14756218" y="-1468822"/>
            <a:ext cx="2992204" cy="5142850"/>
          </a:xfrm>
          <a:custGeom>
            <a:avLst/>
            <a:gdLst/>
            <a:ahLst/>
            <a:cxnLst/>
            <a:rect l="l" t="t" r="r" b="b"/>
            <a:pathLst>
              <a:path w="2992204" h="5142850">
                <a:moveTo>
                  <a:pt x="0" y="0"/>
                </a:moveTo>
                <a:lnTo>
                  <a:pt x="2992204" y="0"/>
                </a:lnTo>
                <a:lnTo>
                  <a:pt x="2992204" y="5142850"/>
                </a:lnTo>
                <a:lnTo>
                  <a:pt x="0" y="51428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446717" y="824633"/>
            <a:ext cx="9566979" cy="2222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97"/>
              </a:lnSpc>
            </a:pPr>
            <a:r>
              <a:rPr lang="en-US" sz="10855" b="1">
                <a:solidFill>
                  <a:srgbClr val="FFFFFF"/>
                </a:solidFill>
                <a:latin typeface="Kitchakan Ultra-Bold"/>
                <a:ea typeface="Kitchakan Ultra-Bold"/>
                <a:cs typeface="Kitchakan Ultra-Bold"/>
                <a:sym typeface="Kitchakan Ultra-Bold"/>
              </a:rPr>
              <a:t>NEXT STEPS</a:t>
            </a:r>
          </a:p>
        </p:txBody>
      </p:sp>
      <p:sp>
        <p:nvSpPr>
          <p:cNvPr id="8" name="Freeform 8"/>
          <p:cNvSpPr/>
          <p:nvPr/>
        </p:nvSpPr>
        <p:spPr>
          <a:xfrm rot="5400000">
            <a:off x="3055339" y="5448257"/>
            <a:ext cx="1883422" cy="9503508"/>
          </a:xfrm>
          <a:custGeom>
            <a:avLst/>
            <a:gdLst/>
            <a:ahLst/>
            <a:cxnLst/>
            <a:rect l="l" t="t" r="r" b="b"/>
            <a:pathLst>
              <a:path w="1883422" h="9503508">
                <a:moveTo>
                  <a:pt x="0" y="0"/>
                </a:moveTo>
                <a:lnTo>
                  <a:pt x="1883422" y="0"/>
                </a:lnTo>
                <a:lnTo>
                  <a:pt x="1883422" y="9503508"/>
                </a:lnTo>
                <a:lnTo>
                  <a:pt x="0" y="95035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9913648" y="1492656"/>
            <a:ext cx="1226482" cy="1188572"/>
          </a:xfrm>
          <a:custGeom>
            <a:avLst/>
            <a:gdLst/>
            <a:ahLst/>
            <a:cxnLst/>
            <a:rect l="l" t="t" r="r" b="b"/>
            <a:pathLst>
              <a:path w="1226482" h="1188572">
                <a:moveTo>
                  <a:pt x="0" y="0"/>
                </a:moveTo>
                <a:lnTo>
                  <a:pt x="1226481" y="0"/>
                </a:lnTo>
                <a:lnTo>
                  <a:pt x="1226481" y="1188572"/>
                </a:lnTo>
                <a:lnTo>
                  <a:pt x="0" y="11885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446717" y="6676102"/>
            <a:ext cx="10358041" cy="3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7"/>
              </a:lnSpc>
            </a:pPr>
            <a:r>
              <a:rPr lang="en-US" sz="2227" spc="-53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-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446717" y="3125242"/>
            <a:ext cx="4973156" cy="5565971"/>
            <a:chOff x="0" y="0"/>
            <a:chExt cx="1171541" cy="131119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71541" cy="1311192"/>
            </a:xfrm>
            <a:custGeom>
              <a:avLst/>
              <a:gdLst/>
              <a:ahLst/>
              <a:cxnLst/>
              <a:rect l="l" t="t" r="r" b="b"/>
              <a:pathLst>
                <a:path w="1171541" h="1311192">
                  <a:moveTo>
                    <a:pt x="0" y="0"/>
                  </a:moveTo>
                  <a:lnTo>
                    <a:pt x="1171541" y="0"/>
                  </a:lnTo>
                  <a:lnTo>
                    <a:pt x="1171541" y="1311192"/>
                  </a:lnTo>
                  <a:lnTo>
                    <a:pt x="0" y="1311192"/>
                  </a:lnTo>
                  <a:close/>
                </a:path>
              </a:pathLst>
            </a:custGeom>
            <a:solidFill>
              <a:srgbClr val="FFFFFF">
                <a:alpha val="8588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171541" cy="1339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2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91733" y="684082"/>
            <a:ext cx="3347111" cy="380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sz="2280" b="1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SYS 3060</a:t>
            </a:r>
          </a:p>
        </p:txBody>
      </p:sp>
      <p:sp>
        <p:nvSpPr>
          <p:cNvPr id="15" name="Freeform 15"/>
          <p:cNvSpPr/>
          <p:nvPr/>
        </p:nvSpPr>
        <p:spPr>
          <a:xfrm>
            <a:off x="15901751" y="311989"/>
            <a:ext cx="1920244" cy="820386"/>
          </a:xfrm>
          <a:custGeom>
            <a:avLst/>
            <a:gdLst/>
            <a:ahLst/>
            <a:cxnLst/>
            <a:rect l="l" t="t" r="r" b="b"/>
            <a:pathLst>
              <a:path w="1920244" h="820386">
                <a:moveTo>
                  <a:pt x="0" y="0"/>
                </a:moveTo>
                <a:lnTo>
                  <a:pt x="1920244" y="0"/>
                </a:lnTo>
                <a:lnTo>
                  <a:pt x="1920244" y="820386"/>
                </a:lnTo>
                <a:lnTo>
                  <a:pt x="0" y="82038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2933612" y="7983202"/>
            <a:ext cx="7470292" cy="4734297"/>
          </a:xfrm>
          <a:custGeom>
            <a:avLst/>
            <a:gdLst/>
            <a:ahLst/>
            <a:cxnLst/>
            <a:rect l="l" t="t" r="r" b="b"/>
            <a:pathLst>
              <a:path w="7470292" h="4734297">
                <a:moveTo>
                  <a:pt x="0" y="0"/>
                </a:moveTo>
                <a:lnTo>
                  <a:pt x="7470292" y="0"/>
                </a:lnTo>
                <a:lnTo>
                  <a:pt x="7470292" y="4734297"/>
                </a:lnTo>
                <a:lnTo>
                  <a:pt x="0" y="473429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6625738" y="3125242"/>
            <a:ext cx="4973156" cy="5565971"/>
            <a:chOff x="0" y="0"/>
            <a:chExt cx="1171541" cy="13111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71541" cy="1311192"/>
            </a:xfrm>
            <a:custGeom>
              <a:avLst/>
              <a:gdLst/>
              <a:ahLst/>
              <a:cxnLst/>
              <a:rect l="l" t="t" r="r" b="b"/>
              <a:pathLst>
                <a:path w="1171541" h="1311192">
                  <a:moveTo>
                    <a:pt x="0" y="0"/>
                  </a:moveTo>
                  <a:lnTo>
                    <a:pt x="1171541" y="0"/>
                  </a:lnTo>
                  <a:lnTo>
                    <a:pt x="1171541" y="1311192"/>
                  </a:lnTo>
                  <a:lnTo>
                    <a:pt x="0" y="1311192"/>
                  </a:lnTo>
                  <a:close/>
                </a:path>
              </a:pathLst>
            </a:custGeom>
            <a:solidFill>
              <a:srgbClr val="FFFFFF">
                <a:alpha val="8588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171541" cy="1339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2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804759" y="3125242"/>
            <a:ext cx="4973156" cy="5565971"/>
            <a:chOff x="0" y="0"/>
            <a:chExt cx="1171541" cy="13111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71541" cy="1311192"/>
            </a:xfrm>
            <a:custGeom>
              <a:avLst/>
              <a:gdLst/>
              <a:ahLst/>
              <a:cxnLst/>
              <a:rect l="l" t="t" r="r" b="b"/>
              <a:pathLst>
                <a:path w="1171541" h="1311192">
                  <a:moveTo>
                    <a:pt x="0" y="0"/>
                  </a:moveTo>
                  <a:lnTo>
                    <a:pt x="1171541" y="0"/>
                  </a:lnTo>
                  <a:lnTo>
                    <a:pt x="1171541" y="1311192"/>
                  </a:lnTo>
                  <a:lnTo>
                    <a:pt x="0" y="1311192"/>
                  </a:lnTo>
                  <a:close/>
                </a:path>
              </a:pathLst>
            </a:custGeom>
            <a:solidFill>
              <a:srgbClr val="FFFFFF">
                <a:alpha val="8588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171541" cy="1339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2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43032" y="3125242"/>
            <a:ext cx="4973156" cy="503285"/>
            <a:chOff x="0" y="0"/>
            <a:chExt cx="1171541" cy="1185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71541" cy="118560"/>
            </a:xfrm>
            <a:custGeom>
              <a:avLst/>
              <a:gdLst/>
              <a:ahLst/>
              <a:cxnLst/>
              <a:rect l="l" t="t" r="r" b="b"/>
              <a:pathLst>
                <a:path w="1171541" h="118560">
                  <a:moveTo>
                    <a:pt x="0" y="0"/>
                  </a:moveTo>
                  <a:lnTo>
                    <a:pt x="1171541" y="0"/>
                  </a:lnTo>
                  <a:lnTo>
                    <a:pt x="1171541" y="118560"/>
                  </a:lnTo>
                  <a:lnTo>
                    <a:pt x="0" y="118560"/>
                  </a:lnTo>
                  <a:close/>
                </a:path>
              </a:pathLst>
            </a:custGeom>
            <a:solidFill>
              <a:srgbClr val="398206">
                <a:alpha val="8588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1171541" cy="147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2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625738" y="3125242"/>
            <a:ext cx="4973156" cy="503285"/>
            <a:chOff x="0" y="0"/>
            <a:chExt cx="1171541" cy="11856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71541" cy="118560"/>
            </a:xfrm>
            <a:custGeom>
              <a:avLst/>
              <a:gdLst/>
              <a:ahLst/>
              <a:cxnLst/>
              <a:rect l="l" t="t" r="r" b="b"/>
              <a:pathLst>
                <a:path w="1171541" h="118560">
                  <a:moveTo>
                    <a:pt x="0" y="0"/>
                  </a:moveTo>
                  <a:lnTo>
                    <a:pt x="1171541" y="0"/>
                  </a:lnTo>
                  <a:lnTo>
                    <a:pt x="1171541" y="118560"/>
                  </a:lnTo>
                  <a:lnTo>
                    <a:pt x="0" y="118560"/>
                  </a:lnTo>
                  <a:close/>
                </a:path>
              </a:pathLst>
            </a:custGeom>
            <a:solidFill>
              <a:srgbClr val="DD4A1B">
                <a:alpha val="8588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1171541" cy="147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2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804759" y="3125242"/>
            <a:ext cx="4973156" cy="503285"/>
            <a:chOff x="0" y="0"/>
            <a:chExt cx="1171541" cy="11856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71541" cy="118560"/>
            </a:xfrm>
            <a:custGeom>
              <a:avLst/>
              <a:gdLst/>
              <a:ahLst/>
              <a:cxnLst/>
              <a:rect l="l" t="t" r="r" b="b"/>
              <a:pathLst>
                <a:path w="1171541" h="118560">
                  <a:moveTo>
                    <a:pt x="0" y="0"/>
                  </a:moveTo>
                  <a:lnTo>
                    <a:pt x="1171541" y="0"/>
                  </a:lnTo>
                  <a:lnTo>
                    <a:pt x="1171541" y="118560"/>
                  </a:lnTo>
                  <a:lnTo>
                    <a:pt x="0" y="118560"/>
                  </a:lnTo>
                  <a:close/>
                </a:path>
              </a:pathLst>
            </a:custGeom>
            <a:solidFill>
              <a:srgbClr val="CA886B">
                <a:alpha val="8588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1171541" cy="147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2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658013" y="3914277"/>
            <a:ext cx="4572194" cy="3490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WHAT WE DID RIGHT!</a:t>
            </a:r>
          </a:p>
          <a:p>
            <a:pPr marL="532469" lvl="1" indent="-266235" algn="l">
              <a:lnSpc>
                <a:spcPts val="3452"/>
              </a:lnSpc>
              <a:buFont typeface="Arial"/>
              <a:buChar char="•"/>
            </a:pPr>
            <a:r>
              <a:rPr lang="en-US" sz="2466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IDENTIFIED S1 AS A BOTTLENECK</a:t>
            </a:r>
          </a:p>
          <a:p>
            <a:pPr marL="532469" lvl="1" indent="-266235" algn="l">
              <a:lnSpc>
                <a:spcPts val="3452"/>
              </a:lnSpc>
              <a:buFont typeface="Arial"/>
              <a:buChar char="•"/>
            </a:pPr>
            <a:r>
              <a:rPr lang="en-US" sz="2466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VALIDATED TANDEM M/M/1 MODEL</a:t>
            </a:r>
          </a:p>
          <a:p>
            <a:pPr marL="532469" lvl="1" indent="-266235" algn="l">
              <a:lnSpc>
                <a:spcPts val="3452"/>
              </a:lnSpc>
              <a:buFont typeface="Arial"/>
              <a:buChar char="•"/>
            </a:pPr>
            <a:r>
              <a:rPr lang="en-US" sz="2466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PARALLEL SERVER REDUCES WAIT TIME SIGNIFICANTLY.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57903" y="3914277"/>
            <a:ext cx="4572194" cy="4366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LIMITATIONS</a:t>
            </a:r>
          </a:p>
          <a:p>
            <a:pPr marL="532469" lvl="1" indent="-266235" algn="l">
              <a:lnSpc>
                <a:spcPts val="3452"/>
              </a:lnSpc>
              <a:buFont typeface="Arial"/>
              <a:buChar char="•"/>
            </a:pPr>
            <a:r>
              <a:rPr lang="en-US" sz="2466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ARRIVAL DATA WAS STAGGERED TO REDUCE BUNCHING. </a:t>
            </a:r>
          </a:p>
          <a:p>
            <a:pPr marL="532469" lvl="1" indent="-266235" algn="l">
              <a:lnSpc>
                <a:spcPts val="3452"/>
              </a:lnSpc>
              <a:buFont typeface="Arial"/>
              <a:buChar char="•"/>
            </a:pPr>
            <a:r>
              <a:rPr lang="en-US" sz="2466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THIS ASSUMES A MORE STABLE LAMBDA AND EXPONENTIAL SERVICE TIMES.</a:t>
            </a:r>
          </a:p>
          <a:p>
            <a:pPr marL="532469" lvl="1" indent="-266235" algn="l">
              <a:lnSpc>
                <a:spcPts val="3452"/>
              </a:lnSpc>
              <a:buFont typeface="Arial"/>
              <a:buChar char="•"/>
            </a:pPr>
            <a:r>
              <a:rPr lang="en-US" sz="2466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DOESN’T CAPTURE BATCHING/SPIKES.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042884" y="3914277"/>
            <a:ext cx="4572194" cy="3052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NEXT STEPS</a:t>
            </a:r>
          </a:p>
          <a:p>
            <a:pPr marL="532469" lvl="1" indent="-266235" algn="l">
              <a:lnSpc>
                <a:spcPts val="3452"/>
              </a:lnSpc>
              <a:buFont typeface="Arial"/>
              <a:buChar char="•"/>
            </a:pPr>
            <a:r>
              <a:rPr lang="en-US" sz="2466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MESSIER ARRIVAL PATTERNS.</a:t>
            </a:r>
          </a:p>
          <a:p>
            <a:pPr marL="532469" lvl="1" indent="-266235" algn="l">
              <a:lnSpc>
                <a:spcPts val="3452"/>
              </a:lnSpc>
              <a:buFont typeface="Arial"/>
              <a:buChar char="•"/>
            </a:pPr>
            <a:r>
              <a:rPr lang="en-US" sz="2466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TIME-VARYING DEMAND</a:t>
            </a:r>
          </a:p>
          <a:p>
            <a:pPr marL="532469" lvl="1" indent="-266235" algn="l">
              <a:lnSpc>
                <a:spcPts val="3452"/>
              </a:lnSpc>
              <a:buFont typeface="Arial"/>
              <a:buChar char="•"/>
            </a:pPr>
            <a:r>
              <a:rPr lang="en-US" sz="2466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VALIDATE IMPROVEMENT WITH REAL-WORLD PILOT!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765</Words>
  <Application>Microsoft Macintosh PowerPoint</Application>
  <PresentationFormat>Custom</PresentationFormat>
  <Paragraphs>174</Paragraphs>
  <Slides>12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IBM Plex Mono</vt:lpstr>
      <vt:lpstr>Arial</vt:lpstr>
      <vt:lpstr>Kitchakan Bold</vt:lpstr>
      <vt:lpstr>Aptos</vt:lpstr>
      <vt:lpstr>Calibri</vt:lpstr>
      <vt:lpstr>Kitchakan</vt:lpstr>
      <vt:lpstr>Kitchakan Ultra-Bold</vt:lpstr>
      <vt:lpstr>IBM Plex Mono Bold</vt:lpstr>
      <vt:lpstr>Arial Black</vt:lpstr>
      <vt:lpstr>Canva Sans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roots</dc:title>
  <cp:lastModifiedBy>Sunilkumar, Rahul (tex2at)</cp:lastModifiedBy>
  <cp:revision>2</cp:revision>
  <dcterms:created xsi:type="dcterms:W3CDTF">2006-08-16T00:00:00Z</dcterms:created>
  <dcterms:modified xsi:type="dcterms:W3CDTF">2026-04-20T13:57:37Z</dcterms:modified>
  <dc:identifier>DAHHVPJaL6k</dc:identifier>
</cp:coreProperties>
</file>